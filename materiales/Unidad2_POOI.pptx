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263" r:id="rId3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12/10/2016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Programación Orientada a Objetos I</a:t>
            </a:r>
            <a:endParaRPr lang="es-MX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tx1"/>
                </a:solidFill>
              </a:rPr>
              <a:t>Unidad </a:t>
            </a:r>
            <a:r>
              <a:rPr lang="es-MX" dirty="0" smtClean="0">
                <a:solidFill>
                  <a:schemeClr val="tx1"/>
                </a:solidFill>
              </a:rPr>
              <a:t>2:</a:t>
            </a:r>
            <a:endParaRPr lang="es-MX" dirty="0" smtClean="0">
              <a:solidFill>
                <a:schemeClr val="tx1"/>
              </a:solidFill>
            </a:endParaRPr>
          </a:p>
          <a:p>
            <a:r>
              <a:rPr lang="es-MX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Conceptos básicos de la programación orientada a objetos</a:t>
            </a:r>
            <a:endParaRPr lang="es-MX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Contenido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Abstracción y programación</a:t>
            </a:r>
          </a:p>
          <a:p>
            <a:r>
              <a:rPr lang="es-MX" dirty="0" smtClean="0"/>
              <a:t>Tipos abstractos de datos</a:t>
            </a:r>
          </a:p>
          <a:p>
            <a:r>
              <a:rPr lang="es-MX" dirty="0" smtClean="0"/>
              <a:t>Clase</a:t>
            </a:r>
          </a:p>
          <a:p>
            <a:r>
              <a:rPr lang="es-MX" dirty="0" smtClean="0"/>
              <a:t>Objetos y mensajes</a:t>
            </a:r>
          </a:p>
          <a:p>
            <a:r>
              <a:rPr lang="es-MX" dirty="0" smtClean="0"/>
              <a:t>Herencia</a:t>
            </a:r>
          </a:p>
          <a:p>
            <a:r>
              <a:rPr lang="es-MX" dirty="0" smtClean="0"/>
              <a:t>Asociación y agregación</a:t>
            </a:r>
          </a:p>
          <a:p>
            <a:r>
              <a:rPr lang="es-MX" dirty="0" smtClean="0"/>
              <a:t>Polimorfismo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Abstracción y programación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329114" cy="4525963"/>
          </a:xfrm>
        </p:spPr>
        <p:txBody>
          <a:bodyPr>
            <a:normAutofit fontScale="77500" lnSpcReduction="20000"/>
          </a:bodyPr>
          <a:lstStyle/>
          <a:p>
            <a:r>
              <a:rPr lang="es-MX" dirty="0" smtClean="0"/>
              <a:t>La programación orientada a objetos expresa un programa como un conjunto de objetos, que colaboran entre ellos para realizar tareas</a:t>
            </a:r>
            <a:r>
              <a:rPr lang="es-MX" dirty="0" smtClean="0"/>
              <a:t>.</a:t>
            </a:r>
          </a:p>
          <a:p>
            <a:r>
              <a:rPr lang="es-MX" dirty="0" smtClean="0"/>
              <a:t>Cada objeto es una </a:t>
            </a:r>
            <a:r>
              <a:rPr lang="es-MX" b="1" dirty="0" smtClean="0"/>
              <a:t>abstracción</a:t>
            </a:r>
            <a:r>
              <a:rPr lang="es-MX" dirty="0" smtClean="0"/>
              <a:t> que modela alguna entidad o hecho del mundo real, con atributos que representan sus características o propiedades y métodos que emulan su comportamiento o actividad 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MX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Wikipedia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2016)</a:t>
            </a:r>
            <a:endParaRPr lang="es-MX" dirty="0"/>
          </a:p>
        </p:txBody>
      </p:sp>
      <p:grpSp>
        <p:nvGrpSpPr>
          <p:cNvPr id="15" name="14 Grupo"/>
          <p:cNvGrpSpPr/>
          <p:nvPr/>
        </p:nvGrpSpPr>
        <p:grpSpPr>
          <a:xfrm>
            <a:off x="4714876" y="2571744"/>
            <a:ext cx="3786214" cy="2143140"/>
            <a:chOff x="4714876" y="2571744"/>
            <a:chExt cx="3786214" cy="2143140"/>
          </a:xfrm>
        </p:grpSpPr>
        <p:pic>
          <p:nvPicPr>
            <p:cNvPr id="5" name="Picture 2" descr="http://2.bp.blogspot.com/-iY9wFWoPMqo/U4Pb05t1VrI/AAAAAAAAASo/S7yL68bJfLI/s1600/caracteristicas_objetos_OT.png"/>
            <p:cNvPicPr>
              <a:picLocks noChangeAspect="1" noChangeArrowheads="1"/>
            </p:cNvPicPr>
            <p:nvPr/>
          </p:nvPicPr>
          <p:blipFill>
            <a:blip r:embed="rId2" cstate="print"/>
            <a:srcRect t="42729" r="69080"/>
            <a:stretch>
              <a:fillRect/>
            </a:stretch>
          </p:blipFill>
          <p:spPr bwMode="auto">
            <a:xfrm>
              <a:off x="5143504" y="3281624"/>
              <a:ext cx="895302" cy="861756"/>
            </a:xfrm>
            <a:prstGeom prst="rect">
              <a:avLst/>
            </a:prstGeom>
            <a:noFill/>
          </p:spPr>
        </p:pic>
        <p:sp>
          <p:nvSpPr>
            <p:cNvPr id="6" name="5 CuadroTexto"/>
            <p:cNvSpPr txBox="1"/>
            <p:nvPr/>
          </p:nvSpPr>
          <p:spPr>
            <a:xfrm>
              <a:off x="4714876" y="4192793"/>
              <a:ext cx="18290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Objeto del mundo real</a:t>
              </a:r>
              <a:endParaRPr lang="es-MX" sz="1400" dirty="0"/>
            </a:p>
          </p:txBody>
        </p:sp>
        <p:sp>
          <p:nvSpPr>
            <p:cNvPr id="7" name="6 Abrir llave"/>
            <p:cNvSpPr/>
            <p:nvPr/>
          </p:nvSpPr>
          <p:spPr>
            <a:xfrm>
              <a:off x="6286512" y="2643182"/>
              <a:ext cx="428628" cy="207170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8" name="29 Grupo"/>
            <p:cNvGrpSpPr/>
            <p:nvPr/>
          </p:nvGrpSpPr>
          <p:grpSpPr>
            <a:xfrm>
              <a:off x="6643702" y="2857496"/>
              <a:ext cx="1857388" cy="1857388"/>
              <a:chOff x="6643702" y="4689246"/>
              <a:chExt cx="1857388" cy="1857388"/>
            </a:xfrm>
          </p:grpSpPr>
          <p:sp>
            <p:nvSpPr>
              <p:cNvPr id="10" name="9 Elipse"/>
              <p:cNvSpPr/>
              <p:nvPr/>
            </p:nvSpPr>
            <p:spPr>
              <a:xfrm>
                <a:off x="6643702" y="4689246"/>
                <a:ext cx="1857388" cy="18573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11" name="10 Elipse"/>
              <p:cNvSpPr/>
              <p:nvPr/>
            </p:nvSpPr>
            <p:spPr>
              <a:xfrm>
                <a:off x="7135222" y="5232042"/>
                <a:ext cx="857256" cy="785818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b="1" dirty="0" smtClean="0"/>
                  <a:t>Radio</a:t>
                </a:r>
              </a:p>
              <a:p>
                <a:pPr algn="ctr"/>
                <a:r>
                  <a:rPr lang="es-MX" sz="1000" b="1" dirty="0" smtClean="0"/>
                  <a:t>Peso</a:t>
                </a:r>
              </a:p>
              <a:p>
                <a:pPr algn="ctr"/>
                <a:r>
                  <a:rPr lang="es-MX" sz="1000" b="1" dirty="0" smtClean="0"/>
                  <a:t>Color</a:t>
                </a:r>
                <a:endParaRPr lang="es-MX" sz="1000" b="1" dirty="0"/>
              </a:p>
            </p:txBody>
          </p:sp>
          <p:sp>
            <p:nvSpPr>
              <p:cNvPr id="12" name="11 CuadroTexto"/>
              <p:cNvSpPr txBox="1"/>
              <p:nvPr/>
            </p:nvSpPr>
            <p:spPr>
              <a:xfrm>
                <a:off x="6872957" y="4968729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Rebotar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12 CuadroTexto"/>
              <p:cNvSpPr txBox="1"/>
              <p:nvPr/>
            </p:nvSpPr>
            <p:spPr>
              <a:xfrm>
                <a:off x="7985300" y="5397357"/>
                <a:ext cx="44435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Girar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13 CuadroTexto"/>
              <p:cNvSpPr txBox="1"/>
              <p:nvPr/>
            </p:nvSpPr>
            <p:spPr>
              <a:xfrm>
                <a:off x="7158709" y="6111737"/>
                <a:ext cx="4940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Rodar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8 CuadroTexto"/>
            <p:cNvSpPr txBox="1"/>
            <p:nvPr/>
          </p:nvSpPr>
          <p:spPr>
            <a:xfrm>
              <a:off x="6826889" y="2571744"/>
              <a:ext cx="1459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Entidad abstracta</a:t>
              </a:r>
              <a:endParaRPr lang="es-MX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Abstracción y </a:t>
            </a:r>
            <a:r>
              <a:rPr lang="es-MX" sz="4000" dirty="0" smtClean="0"/>
              <a:t>programación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257295"/>
          </a:xfrm>
        </p:spPr>
        <p:txBody>
          <a:bodyPr>
            <a:normAutofit fontScale="92500" lnSpcReduction="20000"/>
          </a:bodyPr>
          <a:lstStyle/>
          <a:p>
            <a:r>
              <a:rPr lang="es-MX" dirty="0" smtClean="0"/>
              <a:t>La abstracción se centra en las características esenciales de algún objeto, en relación a la perspectiva del observador.</a:t>
            </a:r>
            <a:endParaRPr lang="es-MX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2786058"/>
            <a:ext cx="5143536" cy="35882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Abstracción y programación … </a:t>
            </a:r>
            <a:r>
              <a:rPr lang="es-MX" sz="4000" dirty="0" smtClean="0"/>
              <a:t>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5043494" cy="4525963"/>
          </a:xfrm>
        </p:spPr>
        <p:txBody>
          <a:bodyPr>
            <a:normAutofit fontScale="85000" lnSpcReduction="20000"/>
          </a:bodyPr>
          <a:lstStyle/>
          <a:p>
            <a:r>
              <a:rPr lang="es-MX" dirty="0" smtClean="0"/>
              <a:t>La abstracción consiste en aislar un elemento de su contexto o del resto de los elementos que lo acompañan, identificando sus características esenciales, las cuales lo distinguen de los demás (</a:t>
            </a:r>
            <a:r>
              <a:rPr lang="es-MX" sz="25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Galicia, </a:t>
            </a:r>
            <a:r>
              <a:rPr lang="es-MX" sz="25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sf</a:t>
            </a:r>
            <a:r>
              <a:rPr lang="es-MX" dirty="0" smtClean="0"/>
              <a:t>.).</a:t>
            </a:r>
          </a:p>
          <a:p>
            <a:r>
              <a:rPr lang="es-MX" dirty="0" smtClean="0"/>
              <a:t>En otras palabras, es la capacidad de conceptualizar entidades genéricas de información a partir de cosas concretas.</a:t>
            </a:r>
          </a:p>
        </p:txBody>
      </p:sp>
      <p:sp>
        <p:nvSpPr>
          <p:cNvPr id="4" name="3 Llamada de nube"/>
          <p:cNvSpPr/>
          <p:nvPr/>
        </p:nvSpPr>
        <p:spPr>
          <a:xfrm>
            <a:off x="6429388" y="2000240"/>
            <a:ext cx="2071702" cy="107157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Problema</a:t>
            </a:r>
            <a:endParaRPr lang="es-MX" dirty="0"/>
          </a:p>
        </p:txBody>
      </p:sp>
      <p:sp>
        <p:nvSpPr>
          <p:cNvPr id="5" name="4 Flecha abajo"/>
          <p:cNvSpPr/>
          <p:nvPr/>
        </p:nvSpPr>
        <p:spPr>
          <a:xfrm>
            <a:off x="7358082" y="3286124"/>
            <a:ext cx="428628" cy="7143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6" name="5 Rectángulo"/>
          <p:cNvSpPr/>
          <p:nvPr/>
        </p:nvSpPr>
        <p:spPr>
          <a:xfrm>
            <a:off x="6643702" y="4214818"/>
            <a:ext cx="1857388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Modelo</a:t>
            </a:r>
            <a:endParaRPr lang="es-MX" dirty="0"/>
          </a:p>
        </p:txBody>
      </p:sp>
      <p:sp>
        <p:nvSpPr>
          <p:cNvPr id="7" name="6 CuadroTexto"/>
          <p:cNvSpPr txBox="1"/>
          <p:nvPr/>
        </p:nvSpPr>
        <p:spPr>
          <a:xfrm>
            <a:off x="6143636" y="3429000"/>
            <a:ext cx="1280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Abstracción</a:t>
            </a:r>
            <a:endParaRPr lang="es-MX" dirty="0"/>
          </a:p>
        </p:txBody>
      </p:sp>
      <p:sp>
        <p:nvSpPr>
          <p:cNvPr id="8" name="7 CuadroTexto"/>
          <p:cNvSpPr txBox="1"/>
          <p:nvPr/>
        </p:nvSpPr>
        <p:spPr>
          <a:xfrm>
            <a:off x="6372659" y="5211561"/>
            <a:ext cx="25570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/>
              <a:t>La abstracción minimiza la complejidad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Tipos de datos abstractos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614618"/>
          </a:xfrm>
        </p:spPr>
        <p:txBody>
          <a:bodyPr/>
          <a:lstStyle/>
          <a:p>
            <a:r>
              <a:rPr lang="es-MX" dirty="0" smtClean="0"/>
              <a:t>Un tipo abstracto de datos consiste en:</a:t>
            </a:r>
          </a:p>
          <a:p>
            <a:pPr lvl="1"/>
            <a:r>
              <a:rPr lang="es-MX" b="1" dirty="0" smtClean="0"/>
              <a:t>Estructura de datos</a:t>
            </a:r>
            <a:r>
              <a:rPr lang="es-MX" dirty="0" smtClean="0"/>
              <a:t> que almacena información para representar un determinado concepto.</a:t>
            </a:r>
          </a:p>
          <a:p>
            <a:pPr lvl="1"/>
            <a:r>
              <a:rPr lang="es-MX" b="1" dirty="0" smtClean="0"/>
              <a:t>Funcionalidad:</a:t>
            </a:r>
            <a:r>
              <a:rPr lang="es-MX" dirty="0" smtClean="0"/>
              <a:t> conjunto de operaciones que se pueden realizar sobre el tipo de datos</a:t>
            </a:r>
            <a:endParaRPr lang="es-MX" dirty="0"/>
          </a:p>
        </p:txBody>
      </p:sp>
      <p:grpSp>
        <p:nvGrpSpPr>
          <p:cNvPr id="7" name="6 Grupo"/>
          <p:cNvGrpSpPr/>
          <p:nvPr/>
        </p:nvGrpSpPr>
        <p:grpSpPr>
          <a:xfrm>
            <a:off x="214282" y="4286256"/>
            <a:ext cx="3786214" cy="2143140"/>
            <a:chOff x="4572000" y="4500570"/>
            <a:chExt cx="3786214" cy="2143140"/>
          </a:xfrm>
        </p:grpSpPr>
        <p:pic>
          <p:nvPicPr>
            <p:cNvPr id="8" name="Picture 2" descr="http://2.bp.blogspot.com/-iY9wFWoPMqo/U4Pb05t1VrI/AAAAAAAAASo/S7yL68bJfLI/s1600/caracteristicas_objetos_OT.png"/>
            <p:cNvPicPr>
              <a:picLocks noChangeAspect="1" noChangeArrowheads="1"/>
            </p:cNvPicPr>
            <p:nvPr/>
          </p:nvPicPr>
          <p:blipFill>
            <a:blip r:embed="rId2" cstate="print"/>
            <a:srcRect t="42729" r="69080"/>
            <a:stretch>
              <a:fillRect/>
            </a:stretch>
          </p:blipFill>
          <p:spPr bwMode="auto">
            <a:xfrm>
              <a:off x="5000628" y="5210450"/>
              <a:ext cx="895302" cy="861756"/>
            </a:xfrm>
            <a:prstGeom prst="rect">
              <a:avLst/>
            </a:prstGeom>
            <a:noFill/>
          </p:spPr>
        </p:pic>
        <p:sp>
          <p:nvSpPr>
            <p:cNvPr id="9" name="8 CuadroTexto"/>
            <p:cNvSpPr txBox="1"/>
            <p:nvPr/>
          </p:nvSpPr>
          <p:spPr>
            <a:xfrm>
              <a:off x="4572000" y="6121619"/>
              <a:ext cx="18290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Objeto del mundo real</a:t>
              </a:r>
              <a:endParaRPr lang="es-MX" sz="1400" dirty="0"/>
            </a:p>
          </p:txBody>
        </p:sp>
        <p:sp>
          <p:nvSpPr>
            <p:cNvPr id="10" name="9 Abrir llave"/>
            <p:cNvSpPr/>
            <p:nvPr/>
          </p:nvSpPr>
          <p:spPr>
            <a:xfrm>
              <a:off x="6143636" y="4572008"/>
              <a:ext cx="428628" cy="207170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11" name="29 Grupo"/>
            <p:cNvGrpSpPr/>
            <p:nvPr/>
          </p:nvGrpSpPr>
          <p:grpSpPr>
            <a:xfrm>
              <a:off x="6500826" y="4786322"/>
              <a:ext cx="1857388" cy="1857388"/>
              <a:chOff x="6643702" y="4689246"/>
              <a:chExt cx="1857388" cy="1857388"/>
            </a:xfrm>
          </p:grpSpPr>
          <p:sp>
            <p:nvSpPr>
              <p:cNvPr id="13" name="12 Elipse"/>
              <p:cNvSpPr/>
              <p:nvPr/>
            </p:nvSpPr>
            <p:spPr>
              <a:xfrm>
                <a:off x="6643702" y="4689246"/>
                <a:ext cx="1857388" cy="18573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14" name="13 Elipse"/>
              <p:cNvSpPr/>
              <p:nvPr/>
            </p:nvSpPr>
            <p:spPr>
              <a:xfrm>
                <a:off x="7135222" y="5232042"/>
                <a:ext cx="857256" cy="785818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b="1" dirty="0" smtClean="0"/>
                  <a:t>Radio</a:t>
                </a:r>
              </a:p>
              <a:p>
                <a:pPr algn="ctr"/>
                <a:r>
                  <a:rPr lang="es-MX" sz="1000" b="1" dirty="0" smtClean="0"/>
                  <a:t>Peso</a:t>
                </a:r>
              </a:p>
              <a:p>
                <a:pPr algn="ctr"/>
                <a:r>
                  <a:rPr lang="es-MX" sz="1000" b="1" dirty="0" smtClean="0"/>
                  <a:t>Color</a:t>
                </a:r>
                <a:endParaRPr lang="es-MX" sz="1000" b="1" dirty="0"/>
              </a:p>
            </p:txBody>
          </p:sp>
          <p:sp>
            <p:nvSpPr>
              <p:cNvPr id="15" name="14 CuadroTexto"/>
              <p:cNvSpPr txBox="1"/>
              <p:nvPr/>
            </p:nvSpPr>
            <p:spPr>
              <a:xfrm>
                <a:off x="6872957" y="4968729"/>
                <a:ext cx="60144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Rebotar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15 CuadroTexto"/>
              <p:cNvSpPr txBox="1"/>
              <p:nvPr/>
            </p:nvSpPr>
            <p:spPr>
              <a:xfrm>
                <a:off x="7985300" y="5397357"/>
                <a:ext cx="44435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Girar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16 CuadroTexto"/>
              <p:cNvSpPr txBox="1"/>
              <p:nvPr/>
            </p:nvSpPr>
            <p:spPr>
              <a:xfrm>
                <a:off x="7158709" y="6111737"/>
                <a:ext cx="4940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Rodar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11 CuadroTexto"/>
            <p:cNvSpPr txBox="1"/>
            <p:nvPr/>
          </p:nvSpPr>
          <p:spPr>
            <a:xfrm>
              <a:off x="6684013" y="4500570"/>
              <a:ext cx="1459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Entidad abstracta</a:t>
              </a:r>
              <a:endParaRPr lang="es-MX" sz="1400" dirty="0"/>
            </a:p>
          </p:txBody>
        </p:sp>
      </p:grpSp>
      <p:sp>
        <p:nvSpPr>
          <p:cNvPr id="18" name="17 CuadroTexto"/>
          <p:cNvSpPr txBox="1"/>
          <p:nvPr/>
        </p:nvSpPr>
        <p:spPr>
          <a:xfrm>
            <a:off x="4143372" y="4000504"/>
            <a:ext cx="500066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Tipo de dato abstracto</a:t>
            </a:r>
          </a:p>
          <a:p>
            <a:endParaRPr lang="es-MX" sz="1100" dirty="0" smtClean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pelota{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Radio;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Peso;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Color;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typedef</a:t>
            </a:r>
            <a:r>
              <a:rPr lang="es-MX" sz="1100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struct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pelota 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PELOTA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s-MX" sz="11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construirPelota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(PELOTA * p,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r,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p,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c)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  p-&gt;Radio = r;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   p-&gt;Peso = p;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  p-&gt;Color = c;    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s-MX" sz="11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Tipos de datos Abstractos … (2)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Algunas ventajas de los TDA</a:t>
            </a:r>
          </a:p>
          <a:p>
            <a:pPr lvl="1"/>
            <a:r>
              <a:rPr lang="es-MX" dirty="0" smtClean="0"/>
              <a:t>Conceptos del domino reflejados en el código</a:t>
            </a:r>
          </a:p>
          <a:p>
            <a:pPr lvl="1"/>
            <a:r>
              <a:rPr lang="es-MX" dirty="0" smtClean="0"/>
              <a:t>Ocultamiento de la complejidad interna y detalles de los datos y operaciones</a:t>
            </a:r>
          </a:p>
          <a:p>
            <a:pPr lvl="1"/>
            <a:r>
              <a:rPr lang="es-MX" dirty="0" smtClean="0"/>
              <a:t>Utilización del tipo d datos independiente de su programación interna</a:t>
            </a:r>
          </a:p>
          <a:p>
            <a:pPr lvl="1"/>
            <a:r>
              <a:rPr lang="es-MX" dirty="0" smtClean="0"/>
              <a:t>Mayor modularidad</a:t>
            </a:r>
          </a:p>
          <a:p>
            <a:pPr lvl="1"/>
            <a:r>
              <a:rPr lang="es-MX" dirty="0" smtClean="0"/>
              <a:t>Mayor facilidad de mantenimiento, reutilización.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Tipos de datos Abstractos … </a:t>
            </a:r>
            <a:r>
              <a:rPr lang="es-MX" sz="4000" dirty="0" smtClean="0"/>
              <a:t>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400303"/>
          </a:xfrm>
        </p:spPr>
        <p:txBody>
          <a:bodyPr>
            <a:normAutofit fontScale="92500" lnSpcReduction="10000"/>
          </a:bodyPr>
          <a:lstStyle/>
          <a:p>
            <a:r>
              <a:rPr lang="es-MX" dirty="0" smtClean="0"/>
              <a:t>Cambio de perspectiva </a:t>
            </a:r>
          </a:p>
          <a:p>
            <a:pPr lvl="1"/>
            <a:r>
              <a:rPr lang="es-MX" dirty="0" smtClean="0"/>
              <a:t>Y si cambiamos la perspectiva del observador y ahora queremos que la pelota se mueva de lugar en un plano, sin importar su peso y color, ¿cuál es el TDA que representa el concepto?, y ¿cuáles operaciones necesitamos ahora?</a:t>
            </a:r>
            <a:endParaRPr lang="es-MX" dirty="0"/>
          </a:p>
        </p:txBody>
      </p:sp>
      <p:grpSp>
        <p:nvGrpSpPr>
          <p:cNvPr id="15" name="14 Grupo"/>
          <p:cNvGrpSpPr/>
          <p:nvPr/>
        </p:nvGrpSpPr>
        <p:grpSpPr>
          <a:xfrm>
            <a:off x="1357290" y="4286256"/>
            <a:ext cx="3786214" cy="2143140"/>
            <a:chOff x="2714612" y="4286256"/>
            <a:chExt cx="3786214" cy="2143140"/>
          </a:xfrm>
        </p:grpSpPr>
        <p:pic>
          <p:nvPicPr>
            <p:cNvPr id="5" name="Picture 2" descr="http://2.bp.blogspot.com/-iY9wFWoPMqo/U4Pb05t1VrI/AAAAAAAAASo/S7yL68bJfLI/s1600/caracteristicas_objetos_OT.png"/>
            <p:cNvPicPr>
              <a:picLocks noChangeAspect="1" noChangeArrowheads="1"/>
            </p:cNvPicPr>
            <p:nvPr/>
          </p:nvPicPr>
          <p:blipFill>
            <a:blip r:embed="rId2" cstate="print"/>
            <a:srcRect t="42729" r="69080"/>
            <a:stretch>
              <a:fillRect/>
            </a:stretch>
          </p:blipFill>
          <p:spPr bwMode="auto">
            <a:xfrm>
              <a:off x="3143240" y="4996136"/>
              <a:ext cx="895302" cy="861756"/>
            </a:xfrm>
            <a:prstGeom prst="rect">
              <a:avLst/>
            </a:prstGeom>
            <a:noFill/>
          </p:spPr>
        </p:pic>
        <p:sp>
          <p:nvSpPr>
            <p:cNvPr id="6" name="5 CuadroTexto"/>
            <p:cNvSpPr txBox="1"/>
            <p:nvPr/>
          </p:nvSpPr>
          <p:spPr>
            <a:xfrm>
              <a:off x="2714612" y="5907305"/>
              <a:ext cx="18290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Objeto del mundo real</a:t>
              </a:r>
              <a:endParaRPr lang="es-MX" sz="1400" dirty="0"/>
            </a:p>
          </p:txBody>
        </p:sp>
        <p:sp>
          <p:nvSpPr>
            <p:cNvPr id="7" name="6 Abrir llave"/>
            <p:cNvSpPr/>
            <p:nvPr/>
          </p:nvSpPr>
          <p:spPr>
            <a:xfrm>
              <a:off x="4286248" y="4357694"/>
              <a:ext cx="428628" cy="2071702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8" name="29 Grupo"/>
            <p:cNvGrpSpPr/>
            <p:nvPr/>
          </p:nvGrpSpPr>
          <p:grpSpPr>
            <a:xfrm>
              <a:off x="4643438" y="4572008"/>
              <a:ext cx="1857388" cy="1857388"/>
              <a:chOff x="6643702" y="4689246"/>
              <a:chExt cx="1857388" cy="1857388"/>
            </a:xfrm>
          </p:grpSpPr>
          <p:sp>
            <p:nvSpPr>
              <p:cNvPr id="10" name="9 Elipse"/>
              <p:cNvSpPr/>
              <p:nvPr/>
            </p:nvSpPr>
            <p:spPr>
              <a:xfrm>
                <a:off x="6643702" y="4689246"/>
                <a:ext cx="1857388" cy="18573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 dirty="0"/>
              </a:p>
            </p:txBody>
          </p:sp>
          <p:sp>
            <p:nvSpPr>
              <p:cNvPr id="11" name="10 Elipse"/>
              <p:cNvSpPr/>
              <p:nvPr/>
            </p:nvSpPr>
            <p:spPr>
              <a:xfrm>
                <a:off x="7135222" y="5232042"/>
                <a:ext cx="857256" cy="785818"/>
              </a:xfrm>
              <a:prstGeom prst="ellipse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sz="1000" b="1" dirty="0" smtClean="0"/>
                  <a:t>?</a:t>
                </a:r>
                <a:endParaRPr lang="es-MX" sz="1000" b="1" dirty="0"/>
              </a:p>
            </p:txBody>
          </p:sp>
          <p:sp>
            <p:nvSpPr>
              <p:cNvPr id="12" name="11 CuadroTexto"/>
              <p:cNvSpPr txBox="1"/>
              <p:nvPr/>
            </p:nvSpPr>
            <p:spPr>
              <a:xfrm>
                <a:off x="6872957" y="4968729"/>
                <a:ext cx="2439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?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12 CuadroTexto"/>
              <p:cNvSpPr txBox="1"/>
              <p:nvPr/>
            </p:nvSpPr>
            <p:spPr>
              <a:xfrm>
                <a:off x="7985300" y="5397357"/>
                <a:ext cx="2439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?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13 CuadroTexto"/>
              <p:cNvSpPr txBox="1"/>
              <p:nvPr/>
            </p:nvSpPr>
            <p:spPr>
              <a:xfrm>
                <a:off x="7158709" y="6111737"/>
                <a:ext cx="2439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sz="1000" dirty="0" smtClean="0">
                    <a:solidFill>
                      <a:schemeClr val="bg1"/>
                    </a:solidFill>
                  </a:rPr>
                  <a:t>?</a:t>
                </a:r>
                <a:endParaRPr lang="es-MX" sz="10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8 CuadroTexto"/>
            <p:cNvSpPr txBox="1"/>
            <p:nvPr/>
          </p:nvSpPr>
          <p:spPr>
            <a:xfrm>
              <a:off x="4826625" y="4286256"/>
              <a:ext cx="14598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400" dirty="0" smtClean="0"/>
                <a:t>Entidad abstracta</a:t>
              </a:r>
              <a:endParaRPr lang="es-MX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Clase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Las clases dan soporte sintáctico explícito para la abstracción de datos (</a:t>
            </a:r>
            <a:r>
              <a:rPr lang="es-MX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Castells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2011</a:t>
            </a:r>
            <a:r>
              <a:rPr lang="es-MX" dirty="0" smtClean="0"/>
              <a:t>).</a:t>
            </a:r>
          </a:p>
          <a:p>
            <a:r>
              <a:rPr lang="es-MX" b="1" dirty="0" smtClean="0"/>
              <a:t>Una clase es una abstracción </a:t>
            </a:r>
            <a:r>
              <a:rPr lang="es-MX" dirty="0" smtClean="0"/>
              <a:t>que describe algún grupo de objetos que tienen (</a:t>
            </a:r>
            <a:r>
              <a:rPr lang="es-MX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Galicia, </a:t>
            </a:r>
            <a:r>
              <a:rPr lang="es-MX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sf</a:t>
            </a:r>
            <a:r>
              <a:rPr lang="es-MX" dirty="0" smtClean="0"/>
              <a:t>.):</a:t>
            </a:r>
          </a:p>
          <a:p>
            <a:pPr lvl="1"/>
            <a:r>
              <a:rPr lang="es-MX" dirty="0" smtClean="0"/>
              <a:t>Propiedades en común (atributos)</a:t>
            </a:r>
          </a:p>
          <a:p>
            <a:pPr lvl="1"/>
            <a:r>
              <a:rPr lang="es-MX" dirty="0" smtClean="0"/>
              <a:t>Comportamiento en común (métodos)</a:t>
            </a:r>
          </a:p>
          <a:p>
            <a:pPr lvl="1"/>
            <a:r>
              <a:rPr lang="es-MX" dirty="0" smtClean="0"/>
              <a:t>Relaciones comunes con otros objetos (asociaciones)</a:t>
            </a:r>
          </a:p>
          <a:p>
            <a:pPr lvl="1"/>
            <a:r>
              <a:rPr lang="es-MX" dirty="0" smtClean="0"/>
              <a:t>Semántica común (descripción breve)</a:t>
            </a:r>
          </a:p>
          <a:p>
            <a:r>
              <a:rPr lang="es-MX" dirty="0" smtClean="0"/>
              <a:t>Una clase es una abstracción porque:</a:t>
            </a:r>
          </a:p>
          <a:p>
            <a:pPr lvl="1"/>
            <a:r>
              <a:rPr lang="es-MX" dirty="0" smtClean="0"/>
              <a:t>Enfatiza características relevantes del sistema</a:t>
            </a:r>
          </a:p>
          <a:p>
            <a:pPr lvl="1"/>
            <a:r>
              <a:rPr lang="es-MX" dirty="0" smtClean="0"/>
              <a:t>Suprime otras características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Clase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MX" dirty="0" smtClean="0"/>
              <a:t>Una clase puede verse como un molde o plantilla para crear objetos.</a:t>
            </a:r>
          </a:p>
          <a:p>
            <a:r>
              <a:rPr lang="es-MX" dirty="0" smtClean="0"/>
              <a:t>En los lenguajes orientados a objetos, las clases están compuestas por dos características básicas:</a:t>
            </a:r>
          </a:p>
          <a:p>
            <a:pPr lvl="1"/>
            <a:r>
              <a:rPr lang="es-MX" dirty="0" smtClean="0"/>
              <a:t>Atributos, y</a:t>
            </a:r>
          </a:p>
          <a:p>
            <a:pPr lvl="1"/>
            <a:r>
              <a:rPr lang="es-MX" dirty="0" smtClean="0"/>
              <a:t>Comportamientos</a:t>
            </a:r>
          </a:p>
          <a:p>
            <a:r>
              <a:rPr lang="es-MX" dirty="0" smtClean="0"/>
              <a:t>Los atributos son las características individuales que permiten diferenciar un objeto de otro.</a:t>
            </a:r>
          </a:p>
          <a:p>
            <a:r>
              <a:rPr lang="es-MX" dirty="0" smtClean="0"/>
              <a:t>El comportamiento de una clase determina la manera en que un objeto de esa clase opera o reacciona, es decir, su funcionalidad.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Clase … </a:t>
            </a:r>
            <a:r>
              <a:rPr lang="es-MX" sz="4000" dirty="0" smtClean="0"/>
              <a:t>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 smtClean="0"/>
              <a:t>Ejemplos de clases</a:t>
            </a:r>
          </a:p>
          <a:p>
            <a:pPr lvl="1"/>
            <a:r>
              <a:rPr lang="es-MX" dirty="0" smtClean="0"/>
              <a:t>La clase Pelota es el modelo abstracto del concepto de una pelota</a:t>
            </a:r>
          </a:p>
          <a:p>
            <a:pPr lvl="2"/>
            <a:r>
              <a:rPr lang="es-MX" dirty="0" smtClean="0"/>
              <a:t>Su descripción podría ser:</a:t>
            </a:r>
          </a:p>
          <a:p>
            <a:pPr lvl="3"/>
            <a:r>
              <a:rPr lang="es-MX" dirty="0" smtClean="0"/>
              <a:t>Es redonda</a:t>
            </a:r>
          </a:p>
          <a:p>
            <a:pPr lvl="3"/>
            <a:r>
              <a:rPr lang="es-MX" dirty="0" smtClean="0"/>
              <a:t>Tiene un tamaño</a:t>
            </a:r>
          </a:p>
          <a:p>
            <a:pPr lvl="3"/>
            <a:r>
              <a:rPr lang="es-MX" dirty="0" smtClean="0"/>
              <a:t>Tiene un color o colores</a:t>
            </a:r>
          </a:p>
          <a:p>
            <a:pPr lvl="3"/>
            <a:r>
              <a:rPr lang="es-MX" dirty="0" smtClean="0"/>
              <a:t>Tiene un peso</a:t>
            </a:r>
          </a:p>
          <a:p>
            <a:pPr lvl="3"/>
            <a:r>
              <a:rPr lang="es-MX" dirty="0" smtClean="0"/>
              <a:t>Tiene una posición </a:t>
            </a:r>
          </a:p>
          <a:p>
            <a:pPr lvl="3"/>
            <a:r>
              <a:rPr lang="es-MX" dirty="0" smtClean="0"/>
              <a:t>Tiene un precio</a:t>
            </a:r>
          </a:p>
          <a:p>
            <a:pPr lvl="3"/>
            <a:r>
              <a:rPr lang="es-MX" dirty="0" smtClean="0"/>
              <a:t>Se asocia a algún juego o deporte</a:t>
            </a:r>
          </a:p>
          <a:p>
            <a:pPr lvl="3"/>
            <a:r>
              <a:rPr lang="es-MX" dirty="0" smtClean="0"/>
              <a:t>Gira</a:t>
            </a:r>
          </a:p>
          <a:p>
            <a:pPr lvl="3"/>
            <a:r>
              <a:rPr lang="es-MX" dirty="0" smtClean="0"/>
              <a:t>Se mueve</a:t>
            </a:r>
          </a:p>
          <a:p>
            <a:pPr lvl="3"/>
            <a:r>
              <a:rPr lang="es-MX" dirty="0" smtClean="0"/>
              <a:t>Rebota</a:t>
            </a:r>
          </a:p>
          <a:p>
            <a:pPr lvl="3"/>
            <a:r>
              <a:rPr lang="es-MX" dirty="0" smtClean="0"/>
              <a:t>Se vende</a:t>
            </a:r>
          </a:p>
          <a:p>
            <a:pPr lvl="1"/>
            <a:r>
              <a:rPr lang="es-MX" dirty="0" smtClean="0"/>
              <a:t>Y para la clase Auto, ¿cuál podría ser su descripción?.</a:t>
            </a:r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5143504" y="2602096"/>
            <a:ext cx="342902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Pelota{</a:t>
            </a:r>
          </a:p>
          <a:p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Radio;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:	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Pelota(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,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,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Mover(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VerPosicion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s-MX" sz="11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Pelota::Pelota(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r,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x, </a:t>
            </a:r>
            <a:r>
              <a:rPr lang="es-MX" sz="110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y){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Radio = r;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= x;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10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  = y;</a:t>
            </a:r>
          </a:p>
          <a:p>
            <a:r>
              <a:rPr lang="es-MX" sz="11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s-MX" sz="11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Clases … (4)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42982"/>
          </a:xfrm>
        </p:spPr>
        <p:txBody>
          <a:bodyPr>
            <a:normAutofit fontScale="77500" lnSpcReduction="20000"/>
          </a:bodyPr>
          <a:lstStyle/>
          <a:p>
            <a:r>
              <a:rPr lang="es-MX" dirty="0" smtClean="0"/>
              <a:t>Desde la perspectiva del modelado con UML (</a:t>
            </a:r>
            <a:r>
              <a:rPr lang="es-MX" i="1" dirty="0" err="1" smtClean="0"/>
              <a:t>Unified</a:t>
            </a:r>
            <a:r>
              <a:rPr lang="es-MX" i="1" dirty="0" smtClean="0"/>
              <a:t> </a:t>
            </a:r>
            <a:r>
              <a:rPr lang="es-MX" i="1" dirty="0" err="1" smtClean="0"/>
              <a:t>Modeling</a:t>
            </a:r>
            <a:r>
              <a:rPr lang="es-MX" i="1" dirty="0" smtClean="0"/>
              <a:t> </a:t>
            </a:r>
            <a:r>
              <a:rPr lang="es-MX" i="1" dirty="0" err="1" smtClean="0"/>
              <a:t>Languaje</a:t>
            </a:r>
            <a:r>
              <a:rPr lang="es-MX" dirty="0" smtClean="0"/>
              <a:t>) una clase se modela de la siguiente forma:</a:t>
            </a:r>
            <a:endParaRPr lang="es-MX" dirty="0"/>
          </a:p>
        </p:txBody>
      </p:sp>
      <p:sp>
        <p:nvSpPr>
          <p:cNvPr id="4" name="3 Rectángulo"/>
          <p:cNvSpPr/>
          <p:nvPr/>
        </p:nvSpPr>
        <p:spPr>
          <a:xfrm>
            <a:off x="1000100" y="3071810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Pelota</a:t>
            </a:r>
            <a:endParaRPr lang="es-MX" dirty="0"/>
          </a:p>
        </p:txBody>
      </p:sp>
      <p:sp>
        <p:nvSpPr>
          <p:cNvPr id="5" name="4 Rectángulo"/>
          <p:cNvSpPr/>
          <p:nvPr/>
        </p:nvSpPr>
        <p:spPr>
          <a:xfrm>
            <a:off x="1000100" y="3500438"/>
            <a:ext cx="2143140" cy="1000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</a:rPr>
              <a:t>Radio</a:t>
            </a:r>
          </a:p>
          <a:p>
            <a:pPr algn="ctr"/>
            <a:r>
              <a:rPr lang="es-MX" dirty="0" err="1" smtClean="0">
                <a:solidFill>
                  <a:schemeClr val="tx1"/>
                </a:solidFill>
              </a:rPr>
              <a:t>PosX</a:t>
            </a:r>
            <a:endParaRPr lang="es-MX" dirty="0" smtClean="0">
              <a:solidFill>
                <a:schemeClr val="tx1"/>
              </a:solidFill>
            </a:endParaRPr>
          </a:p>
          <a:p>
            <a:pPr algn="ctr"/>
            <a:r>
              <a:rPr lang="es-MX" dirty="0" err="1" smtClean="0">
                <a:solidFill>
                  <a:schemeClr val="tx1"/>
                </a:solidFill>
              </a:rPr>
              <a:t>PosY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1000100" y="4500570"/>
            <a:ext cx="2143140" cy="1000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</a:rPr>
              <a:t>Pelota</a:t>
            </a:r>
          </a:p>
          <a:p>
            <a:pPr algn="ctr"/>
            <a:r>
              <a:rPr lang="es-MX" dirty="0" smtClean="0">
                <a:solidFill>
                  <a:schemeClr val="tx1"/>
                </a:solidFill>
              </a:rPr>
              <a:t>Mover</a:t>
            </a:r>
          </a:p>
          <a:p>
            <a:pPr algn="ctr"/>
            <a:r>
              <a:rPr lang="es-MX" dirty="0" err="1" smtClean="0">
                <a:solidFill>
                  <a:schemeClr val="tx1"/>
                </a:solidFill>
              </a:rPr>
              <a:t>VerPosicion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857884" y="3071810"/>
            <a:ext cx="2143140" cy="4286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Lavadora</a:t>
            </a:r>
            <a:endParaRPr lang="es-MX" dirty="0"/>
          </a:p>
        </p:txBody>
      </p:sp>
      <p:sp>
        <p:nvSpPr>
          <p:cNvPr id="8" name="7 Rectángulo"/>
          <p:cNvSpPr/>
          <p:nvPr/>
        </p:nvSpPr>
        <p:spPr>
          <a:xfrm>
            <a:off x="5857884" y="3500438"/>
            <a:ext cx="2143140" cy="1000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</a:rPr>
              <a:t>Marca</a:t>
            </a:r>
          </a:p>
          <a:p>
            <a:pPr algn="ctr"/>
            <a:r>
              <a:rPr lang="es-MX" dirty="0" smtClean="0">
                <a:solidFill>
                  <a:schemeClr val="tx1"/>
                </a:solidFill>
              </a:rPr>
              <a:t>Modelo</a:t>
            </a:r>
          </a:p>
          <a:p>
            <a:pPr algn="ctr"/>
            <a:r>
              <a:rPr lang="es-MX" dirty="0" smtClean="0">
                <a:solidFill>
                  <a:schemeClr val="tx1"/>
                </a:solidFill>
              </a:rPr>
              <a:t>Capacidad</a:t>
            </a:r>
          </a:p>
        </p:txBody>
      </p:sp>
      <p:sp>
        <p:nvSpPr>
          <p:cNvPr id="9" name="8 Rectángulo"/>
          <p:cNvSpPr/>
          <p:nvPr/>
        </p:nvSpPr>
        <p:spPr>
          <a:xfrm>
            <a:off x="5857884" y="4500570"/>
            <a:ext cx="2143140" cy="100013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>
                <a:solidFill>
                  <a:schemeClr val="tx1"/>
                </a:solidFill>
              </a:rPr>
              <a:t>Programar</a:t>
            </a:r>
          </a:p>
          <a:p>
            <a:pPr algn="ctr"/>
            <a:r>
              <a:rPr lang="es-MX" dirty="0" err="1" smtClean="0">
                <a:solidFill>
                  <a:schemeClr val="tx1"/>
                </a:solidFill>
              </a:rPr>
              <a:t>PonerRopa</a:t>
            </a:r>
            <a:endParaRPr lang="es-MX" dirty="0" smtClean="0">
              <a:solidFill>
                <a:schemeClr val="tx1"/>
              </a:solidFill>
            </a:endParaRPr>
          </a:p>
          <a:p>
            <a:pPr algn="ctr"/>
            <a:r>
              <a:rPr lang="es-MX" dirty="0" smtClean="0">
                <a:solidFill>
                  <a:schemeClr val="tx1"/>
                </a:solidFill>
              </a:rPr>
              <a:t>Lavar</a:t>
            </a:r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3500430" y="3071810"/>
            <a:ext cx="2005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Nombre de la Clase</a:t>
            </a:r>
            <a:endParaRPr lang="es-MX" dirty="0"/>
          </a:p>
        </p:txBody>
      </p:sp>
      <p:sp>
        <p:nvSpPr>
          <p:cNvPr id="11" name="10 CuadroTexto"/>
          <p:cNvSpPr txBox="1"/>
          <p:nvPr/>
        </p:nvSpPr>
        <p:spPr>
          <a:xfrm>
            <a:off x="3948802" y="3786190"/>
            <a:ext cx="105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Atributos</a:t>
            </a:r>
            <a:endParaRPr lang="es-MX" dirty="0"/>
          </a:p>
        </p:txBody>
      </p:sp>
      <p:sp>
        <p:nvSpPr>
          <p:cNvPr id="12" name="11 CuadroTexto"/>
          <p:cNvSpPr txBox="1"/>
          <p:nvPr/>
        </p:nvSpPr>
        <p:spPr>
          <a:xfrm>
            <a:off x="3637547" y="4572008"/>
            <a:ext cx="17917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Comportamiento</a:t>
            </a:r>
          </a:p>
          <a:p>
            <a:pPr algn="ctr"/>
            <a:r>
              <a:rPr lang="es-MX" dirty="0" smtClean="0"/>
              <a:t>(métodos)</a:t>
            </a:r>
            <a:endParaRPr lang="es-MX" dirty="0"/>
          </a:p>
        </p:txBody>
      </p:sp>
      <p:sp>
        <p:nvSpPr>
          <p:cNvPr id="13" name="12 Abrir llave"/>
          <p:cNvSpPr/>
          <p:nvPr/>
        </p:nvSpPr>
        <p:spPr>
          <a:xfrm>
            <a:off x="5500694" y="3071810"/>
            <a:ext cx="188595" cy="3571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13 Abrir llave"/>
          <p:cNvSpPr/>
          <p:nvPr/>
        </p:nvSpPr>
        <p:spPr>
          <a:xfrm>
            <a:off x="5500694" y="3571876"/>
            <a:ext cx="188595" cy="92869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14 Abrir llave"/>
          <p:cNvSpPr/>
          <p:nvPr/>
        </p:nvSpPr>
        <p:spPr>
          <a:xfrm>
            <a:off x="5500694" y="4572008"/>
            <a:ext cx="214313" cy="8572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16 Cerrar llave"/>
          <p:cNvSpPr/>
          <p:nvPr/>
        </p:nvSpPr>
        <p:spPr>
          <a:xfrm>
            <a:off x="3214678" y="3071810"/>
            <a:ext cx="214314" cy="4286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9" name="18 Cerrar llave"/>
          <p:cNvSpPr/>
          <p:nvPr/>
        </p:nvSpPr>
        <p:spPr>
          <a:xfrm>
            <a:off x="3214678" y="3571876"/>
            <a:ext cx="285752" cy="85725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0" name="19 Cerrar llave"/>
          <p:cNvSpPr/>
          <p:nvPr/>
        </p:nvSpPr>
        <p:spPr>
          <a:xfrm>
            <a:off x="3214678" y="4500570"/>
            <a:ext cx="285752" cy="10001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Objetos y mensajes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471874"/>
          </a:xfrm>
        </p:spPr>
        <p:txBody>
          <a:bodyPr>
            <a:normAutofit lnSpcReduction="10000"/>
          </a:bodyPr>
          <a:lstStyle/>
          <a:p>
            <a:r>
              <a:rPr lang="es-MX" dirty="0" smtClean="0"/>
              <a:t>Un objeto representa en elemento, unidad o entidad individual, indivisible e identificable, ya sea real o abstracta, con un papel bien definido en el problema.</a:t>
            </a:r>
          </a:p>
          <a:p>
            <a:r>
              <a:rPr lang="es-MX" dirty="0" smtClean="0"/>
              <a:t>Informalmente se puede decir que un objeto representa cualquier entidad dentro del dominio del problema.</a:t>
            </a:r>
          </a:p>
          <a:p>
            <a:endParaRPr lang="es-MX" dirty="0"/>
          </a:p>
        </p:txBody>
      </p:sp>
      <p:sp>
        <p:nvSpPr>
          <p:cNvPr id="4" name="3 CuadroTexto"/>
          <p:cNvSpPr txBox="1"/>
          <p:nvPr/>
        </p:nvSpPr>
        <p:spPr>
          <a:xfrm>
            <a:off x="1428728" y="4929198"/>
            <a:ext cx="142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Entidad física</a:t>
            </a:r>
            <a:endParaRPr lang="es-MX" dirty="0"/>
          </a:p>
        </p:txBody>
      </p:sp>
      <p:pic>
        <p:nvPicPr>
          <p:cNvPr id="5" name="Picture 2" descr="http://2.bp.blogspot.com/-iY9wFWoPMqo/U4Pb05t1VrI/AAAAAAAAASo/S7yL68bJfLI/s1600/caracteristicas_objetos_OT.png"/>
          <p:cNvPicPr>
            <a:picLocks noChangeAspect="1" noChangeArrowheads="1"/>
          </p:cNvPicPr>
          <p:nvPr/>
        </p:nvPicPr>
        <p:blipFill>
          <a:blip r:embed="rId2" cstate="print"/>
          <a:srcRect t="42729" r="69080"/>
          <a:stretch>
            <a:fillRect/>
          </a:stretch>
        </p:blipFill>
        <p:spPr bwMode="auto">
          <a:xfrm>
            <a:off x="1714480" y="5357826"/>
            <a:ext cx="895302" cy="861756"/>
          </a:xfrm>
          <a:prstGeom prst="rect">
            <a:avLst/>
          </a:prstGeom>
          <a:noFill/>
        </p:spPr>
      </p:pic>
      <p:sp>
        <p:nvSpPr>
          <p:cNvPr id="6" name="5 CuadroTexto"/>
          <p:cNvSpPr txBox="1"/>
          <p:nvPr/>
        </p:nvSpPr>
        <p:spPr>
          <a:xfrm>
            <a:off x="3500430" y="4929198"/>
            <a:ext cx="1989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Entidad conceptual</a:t>
            </a:r>
            <a:endParaRPr lang="es-MX" dirty="0"/>
          </a:p>
        </p:txBody>
      </p:sp>
      <p:sp>
        <p:nvSpPr>
          <p:cNvPr id="7" name="6 CuadroTexto"/>
          <p:cNvSpPr txBox="1"/>
          <p:nvPr/>
        </p:nvSpPr>
        <p:spPr>
          <a:xfrm>
            <a:off x="1785918" y="6202940"/>
            <a:ext cx="773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Pelota</a:t>
            </a:r>
            <a:endParaRPr lang="es-MX" dirty="0"/>
          </a:p>
        </p:txBody>
      </p:sp>
      <p:sp>
        <p:nvSpPr>
          <p:cNvPr id="9" name="8 CuadroTexto"/>
          <p:cNvSpPr txBox="1"/>
          <p:nvPr/>
        </p:nvSpPr>
        <p:spPr>
          <a:xfrm>
            <a:off x="3643306" y="6215082"/>
            <a:ext cx="1816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Reacción química</a:t>
            </a:r>
            <a:endParaRPr lang="es-MX" dirty="0"/>
          </a:p>
        </p:txBody>
      </p:sp>
      <p:pic>
        <p:nvPicPr>
          <p:cNvPr id="2052" name="Picture 4" descr="Resultado de imagen"/>
          <p:cNvPicPr>
            <a:picLocks noChangeAspect="1" noChangeArrowheads="1"/>
          </p:cNvPicPr>
          <p:nvPr/>
        </p:nvPicPr>
        <p:blipFill>
          <a:blip r:embed="rId3"/>
          <a:srcRect l="2351" t="42276" r="3604" b="12317"/>
          <a:stretch>
            <a:fillRect/>
          </a:stretch>
        </p:blipFill>
        <p:spPr bwMode="auto">
          <a:xfrm>
            <a:off x="3357554" y="5286388"/>
            <a:ext cx="2364843" cy="857256"/>
          </a:xfrm>
          <a:prstGeom prst="rect">
            <a:avLst/>
          </a:prstGeom>
          <a:noFill/>
        </p:spPr>
      </p:pic>
      <p:sp>
        <p:nvSpPr>
          <p:cNvPr id="11" name="10 CuadroTexto"/>
          <p:cNvSpPr txBox="1"/>
          <p:nvPr/>
        </p:nvSpPr>
        <p:spPr>
          <a:xfrm>
            <a:off x="6286512" y="4929198"/>
            <a:ext cx="2068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Entidad de software</a:t>
            </a:r>
            <a:endParaRPr lang="es-MX" dirty="0"/>
          </a:p>
        </p:txBody>
      </p:sp>
      <p:sp>
        <p:nvSpPr>
          <p:cNvPr id="12" name="11 CuadroTexto"/>
          <p:cNvSpPr txBox="1"/>
          <p:nvPr/>
        </p:nvSpPr>
        <p:spPr>
          <a:xfrm>
            <a:off x="6652401" y="6215082"/>
            <a:ext cx="1491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Lista enlazada</a:t>
            </a:r>
            <a:endParaRPr lang="es-MX" dirty="0"/>
          </a:p>
        </p:txBody>
      </p:sp>
      <p:pic>
        <p:nvPicPr>
          <p:cNvPr id="14" name="13 Imagen" descr="estructura 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60" y="5286388"/>
            <a:ext cx="2524553" cy="7767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Objetos y mensajes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smtClean="0"/>
              <a:t>Un objeto es una instanciación de una clase.</a:t>
            </a:r>
          </a:p>
          <a:p>
            <a:pPr lvl="1"/>
            <a:r>
              <a:rPr lang="es-MX" dirty="0" smtClean="0"/>
              <a:t>De manera informal se puede decir que la clase es el molde y el objeto el producto que resulta de usar el molde.</a:t>
            </a:r>
          </a:p>
          <a:p>
            <a:r>
              <a:rPr lang="es-MX" dirty="0" smtClean="0"/>
              <a:t>De esta manera el objeto se compone de atributos y métodos.</a:t>
            </a:r>
          </a:p>
          <a:p>
            <a:pPr lvl="1"/>
            <a:r>
              <a:rPr lang="es-MX" dirty="0" smtClean="0"/>
              <a:t>Los atributos definirán una identidad única para el objeto </a:t>
            </a:r>
            <a:r>
              <a:rPr lang="es-MX" dirty="0" err="1" smtClean="0"/>
              <a:t>instaciado</a:t>
            </a:r>
            <a:r>
              <a:rPr lang="es-MX" dirty="0" smtClean="0"/>
              <a:t> a partir de la clase.</a:t>
            </a:r>
          </a:p>
          <a:p>
            <a:pPr lvl="1"/>
            <a:r>
              <a:rPr lang="es-MX" dirty="0" smtClean="0"/>
              <a:t>Los métodos deberán ser los únicos medios para acceder a los atributos del objeto (encapsulamiento).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Objetos y mensajes … 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400948" cy="471477"/>
          </a:xfrm>
        </p:spPr>
        <p:txBody>
          <a:bodyPr>
            <a:normAutofit fontScale="92500" lnSpcReduction="20000"/>
          </a:bodyPr>
          <a:lstStyle/>
          <a:p>
            <a:r>
              <a:rPr lang="es-MX" dirty="0" smtClean="0"/>
              <a:t>Ejemplo en </a:t>
            </a:r>
            <a:r>
              <a:rPr lang="es-MX" dirty="0" smtClean="0"/>
              <a:t>C</a:t>
            </a:r>
            <a:r>
              <a:rPr lang="es-MX" dirty="0" smtClean="0"/>
              <a:t>++ de la clase pelota</a:t>
            </a:r>
          </a:p>
          <a:p>
            <a:pPr>
              <a:buNone/>
            </a:pPr>
            <a:endParaRPr lang="es-MX" dirty="0"/>
          </a:p>
        </p:txBody>
      </p:sp>
      <p:sp>
        <p:nvSpPr>
          <p:cNvPr id="4" name="3 Rectángulo"/>
          <p:cNvSpPr/>
          <p:nvPr/>
        </p:nvSpPr>
        <p:spPr>
          <a:xfrm>
            <a:off x="785786" y="2000240"/>
            <a:ext cx="7000924" cy="4778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#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include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&lt;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iostream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Pelota{</a:t>
            </a:r>
          </a:p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Radio;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	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Pelota(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Mover(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VerPosicion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};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Pelota::Pelota(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float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r,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x,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y){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Radio = r;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 = x;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 = y;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Pelota::Mover(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x,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y){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+=x;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+=y;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Pelota::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VerPosicion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){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&lt;&lt; "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 " &lt;&lt;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PosX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&lt;&lt; ",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 " &lt;&lt;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PosY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857752" y="2841753"/>
            <a:ext cx="385765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Pelota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PelotaGrande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(5, 0, 0);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Pelota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PelotaChica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  (1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5, 5);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&lt;&lt; "Pelota grande: ";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PelotaGrande.VerPosicion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PelotaGrande.Mover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(10, 10);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&lt;&lt; "Pelota grande: ";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PelotaGrande.VerPosicion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&lt;&lt; "Pelota chica: ";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PelotaChica.VerPosicion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s-MX" sz="105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Objetos y mensajes … </a:t>
            </a:r>
            <a:r>
              <a:rPr lang="es-MX" sz="4000" dirty="0" smtClean="0"/>
              <a:t>(4)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MX" dirty="0" smtClean="0"/>
              <a:t>Del ejemplo anterior podemos distinguir:</a:t>
            </a:r>
          </a:p>
          <a:p>
            <a:pPr lvl="1"/>
            <a:r>
              <a:rPr lang="es-MX" dirty="0" smtClean="0"/>
              <a:t>Una clase Pelota que se compone de atributos y métodos.</a:t>
            </a:r>
          </a:p>
          <a:p>
            <a:pPr lvl="1"/>
            <a:r>
              <a:rPr lang="es-MX" dirty="0" smtClean="0"/>
              <a:t>Que de la clase Pelota se instancian dos objetos</a:t>
            </a:r>
          </a:p>
          <a:p>
            <a:pPr lvl="2"/>
            <a:r>
              <a:rPr lang="es-MX" dirty="0" smtClean="0"/>
              <a:t>La clase se puede ver como un nuevo tipo de datos definido por el usuario que encapsula atributos y métodos.</a:t>
            </a:r>
          </a:p>
          <a:p>
            <a:pPr lvl="1"/>
            <a:r>
              <a:rPr lang="es-MX" dirty="0" smtClean="0"/>
              <a:t>Y muy importante: no confundir objetos de una misma clase, </a:t>
            </a:r>
            <a:r>
              <a:rPr lang="es-MX" dirty="0" err="1" smtClean="0"/>
              <a:t>PelotaGrande</a:t>
            </a:r>
            <a:r>
              <a:rPr lang="es-MX" dirty="0" smtClean="0"/>
              <a:t> y </a:t>
            </a:r>
            <a:r>
              <a:rPr lang="es-MX" dirty="0" err="1" smtClean="0"/>
              <a:t>PelotaChica</a:t>
            </a:r>
            <a:r>
              <a:rPr lang="es-MX" dirty="0" smtClean="0"/>
              <a:t> no son objetos de clases diferentes, sino objetos de la misma clase con una identidad y estado diferentes.</a:t>
            </a:r>
          </a:p>
          <a:p>
            <a:pPr lvl="1"/>
            <a:endParaRPr lang="es-MX" dirty="0" smtClean="0"/>
          </a:p>
          <a:p>
            <a:pPr lvl="1"/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Objetos y mensajes … (5)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MX" dirty="0" smtClean="0"/>
              <a:t>Los objetos se comunican por medio de mensajes. Esto significa que para poder “utilizar” un objeto hay que enviarle una orden sobre lo que debe hacer.</a:t>
            </a:r>
          </a:p>
          <a:p>
            <a:r>
              <a:rPr lang="es-MX" dirty="0" smtClean="0"/>
              <a:t>El mensaje es esencialmente una orden que se envía a un objeto para indicarle una acción.</a:t>
            </a:r>
          </a:p>
          <a:p>
            <a:r>
              <a:rPr lang="es-MX" dirty="0" smtClean="0"/>
              <a:t>Mensajes y métodos son dos caras de la misma moneda. Los métodos son </a:t>
            </a:r>
            <a:r>
              <a:rPr lang="es-MX" i="1" dirty="0" smtClean="0"/>
              <a:t>procedimientos</a:t>
            </a:r>
            <a:r>
              <a:rPr lang="es-MX" dirty="0" smtClean="0"/>
              <a:t> que se ejecutan, cuando un objeto recibe un mensaje.</a:t>
            </a:r>
          </a:p>
          <a:p>
            <a:pPr lvl="1"/>
            <a:r>
              <a:rPr lang="es-MX" dirty="0" smtClean="0"/>
              <a:t>El mensaje indica el qué se desea hacer con el objeto</a:t>
            </a:r>
          </a:p>
          <a:p>
            <a:pPr lvl="1"/>
            <a:r>
              <a:rPr lang="es-MX" dirty="0" smtClean="0"/>
              <a:t>El método específica el cómo se hace la tarea deseada</a:t>
            </a:r>
          </a:p>
          <a:p>
            <a:pPr lvl="1"/>
            <a:r>
              <a:rPr lang="es-MX" dirty="0" smtClean="0"/>
              <a:t>Así pues, los objetos se activan cuando reciben un mensaje.</a:t>
            </a:r>
            <a:endParaRPr lang="es-MX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Objetos y mensajes … (6)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043245"/>
          </a:xfrm>
        </p:spPr>
        <p:txBody>
          <a:bodyPr>
            <a:normAutofit fontScale="70000" lnSpcReduction="20000"/>
          </a:bodyPr>
          <a:lstStyle/>
          <a:p>
            <a:r>
              <a:rPr lang="es-MX" dirty="0" smtClean="0"/>
              <a:t>A los objetos solo se les puede activar por medio de mensajes a métodos públicos.</a:t>
            </a:r>
          </a:p>
          <a:p>
            <a:r>
              <a:rPr lang="es-MX" dirty="0" smtClean="0"/>
              <a:t>En el envío de mensajes participan 2 objetos, uno llamado emisor y otro llamado receptor</a:t>
            </a:r>
          </a:p>
          <a:p>
            <a:r>
              <a:rPr lang="es-MX" dirty="0" smtClean="0"/>
              <a:t>En esencia el mensaje se compone de tres partes: identidad del receptor, método a ejecutar e información especial (argumentos)</a:t>
            </a:r>
          </a:p>
          <a:p>
            <a:r>
              <a:rPr lang="es-MX" dirty="0" smtClean="0"/>
              <a:t>El conjunto de mensajes a los que responde un objeto se denomina comportamiento.</a:t>
            </a:r>
            <a:endParaRPr lang="es-MX" dirty="0"/>
          </a:p>
        </p:txBody>
      </p:sp>
      <p:sp>
        <p:nvSpPr>
          <p:cNvPr id="4" name="3 Elipse"/>
          <p:cNvSpPr/>
          <p:nvPr/>
        </p:nvSpPr>
        <p:spPr>
          <a:xfrm>
            <a:off x="857224" y="4500570"/>
            <a:ext cx="1571636" cy="1428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Objeto</a:t>
            </a:r>
          </a:p>
          <a:p>
            <a:pPr algn="ctr"/>
            <a:r>
              <a:rPr lang="es-MX" dirty="0" smtClean="0"/>
              <a:t>Emisor</a:t>
            </a:r>
            <a:endParaRPr lang="es-MX" dirty="0"/>
          </a:p>
        </p:txBody>
      </p:sp>
      <p:sp>
        <p:nvSpPr>
          <p:cNvPr id="5" name="4 Elipse"/>
          <p:cNvSpPr/>
          <p:nvPr/>
        </p:nvSpPr>
        <p:spPr>
          <a:xfrm>
            <a:off x="3786182" y="4500570"/>
            <a:ext cx="1500198" cy="1428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Objeto</a:t>
            </a:r>
          </a:p>
          <a:p>
            <a:pPr algn="ctr"/>
            <a:r>
              <a:rPr lang="es-MX" dirty="0" smtClean="0"/>
              <a:t>Receptor</a:t>
            </a:r>
            <a:endParaRPr lang="es-MX" dirty="0"/>
          </a:p>
        </p:txBody>
      </p:sp>
      <p:cxnSp>
        <p:nvCxnSpPr>
          <p:cNvPr id="7" name="6 Conector recto de flecha"/>
          <p:cNvCxnSpPr>
            <a:stCxn id="4" idx="7"/>
            <a:endCxn id="5" idx="1"/>
          </p:cNvCxnSpPr>
          <p:nvPr/>
        </p:nvCxnSpPr>
        <p:spPr>
          <a:xfrm rot="5400000" flipH="1" flipV="1">
            <a:off x="3102290" y="3806216"/>
            <a:ext cx="1588" cy="180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 de flecha"/>
          <p:cNvCxnSpPr>
            <a:stCxn id="5" idx="3"/>
            <a:endCxn id="4" idx="5"/>
          </p:cNvCxnSpPr>
          <p:nvPr/>
        </p:nvCxnSpPr>
        <p:spPr>
          <a:xfrm rot="5400000">
            <a:off x="3102290" y="4816502"/>
            <a:ext cx="1588" cy="1807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2379971" y="5072074"/>
            <a:ext cx="1477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smtClean="0"/>
              <a:t>Paso de mensajes</a:t>
            </a:r>
            <a:endParaRPr lang="es-MX" sz="1400" dirty="0"/>
          </a:p>
        </p:txBody>
      </p:sp>
      <p:sp>
        <p:nvSpPr>
          <p:cNvPr id="14" name="13 Rectángulo"/>
          <p:cNvSpPr/>
          <p:nvPr/>
        </p:nvSpPr>
        <p:spPr>
          <a:xfrm>
            <a:off x="5143504" y="4071942"/>
            <a:ext cx="3857652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[]) {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Pelota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PelotaGrande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(5, 0, 0);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Pelota 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PelotaChica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  (1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, 5, 5);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&lt;&lt; "Pelota grande: ";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b="1" dirty="0" err="1" smtClean="0">
                <a:latin typeface="Courier New" pitchFamily="49" charset="0"/>
                <a:cs typeface="Courier New" pitchFamily="49" charset="0"/>
              </a:rPr>
              <a:t>PelotaGrande.VerPosicion</a:t>
            </a:r>
            <a:r>
              <a:rPr lang="es-MX" sz="105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b="1" dirty="0" err="1" smtClean="0">
                <a:latin typeface="Courier New" pitchFamily="49" charset="0"/>
                <a:cs typeface="Courier New" pitchFamily="49" charset="0"/>
              </a:rPr>
              <a:t>PelotaGrande.Mover</a:t>
            </a:r>
            <a:r>
              <a:rPr lang="es-MX" sz="1050" b="1" dirty="0" smtClean="0">
                <a:latin typeface="Courier New" pitchFamily="49" charset="0"/>
                <a:cs typeface="Courier New" pitchFamily="49" charset="0"/>
              </a:rPr>
              <a:t>(10, 10);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&lt;&lt; "Pelota grande: ";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b="1" dirty="0" err="1" smtClean="0">
                <a:latin typeface="Courier New" pitchFamily="49" charset="0"/>
                <a:cs typeface="Courier New" pitchFamily="49" charset="0"/>
              </a:rPr>
              <a:t>PelotaGrande.VerPosicion</a:t>
            </a:r>
            <a:r>
              <a:rPr lang="es-MX" sz="105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s-MX" sz="105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&lt;&lt; "Pelota chica: ";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b="1" dirty="0" err="1" smtClean="0">
                <a:latin typeface="Courier New" pitchFamily="49" charset="0"/>
                <a:cs typeface="Courier New" pitchFamily="49" charset="0"/>
              </a:rPr>
              <a:t>PelotaChica.VerPosicion</a:t>
            </a:r>
            <a:r>
              <a:rPr lang="es-MX" sz="105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endParaRPr lang="es-MX" sz="105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es-MX" sz="1050" dirty="0" err="1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r>
              <a:rPr lang="es-MX" sz="105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s-MX" sz="105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1285852" y="5929330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 err="1" smtClean="0">
                <a:latin typeface="Courier New" pitchFamily="49" charset="0"/>
                <a:cs typeface="Courier New" pitchFamily="49" charset="0"/>
              </a:rPr>
              <a:t>main</a:t>
            </a:r>
            <a:endParaRPr lang="es-MX" sz="1400" dirty="0"/>
          </a:p>
        </p:txBody>
      </p:sp>
      <p:sp>
        <p:nvSpPr>
          <p:cNvPr id="16" name="15 Rectángulo"/>
          <p:cNvSpPr/>
          <p:nvPr/>
        </p:nvSpPr>
        <p:spPr>
          <a:xfrm>
            <a:off x="4135591" y="5929330"/>
            <a:ext cx="936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 smtClean="0">
                <a:latin typeface="Courier New" pitchFamily="49" charset="0"/>
                <a:cs typeface="Courier New" pitchFamily="49" charset="0"/>
              </a:rPr>
              <a:t>Pelota </a:t>
            </a:r>
            <a:endParaRPr lang="es-MX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Herencia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smtClean="0"/>
              <a:t>Es la característica del paradigma orientado a objetos que permite construir clases a partir de otras clases.</a:t>
            </a:r>
          </a:p>
          <a:p>
            <a:r>
              <a:rPr lang="es-MX" dirty="0" smtClean="0"/>
              <a:t>La herencia representa una jerarquía de abstracciones (clases).</a:t>
            </a:r>
          </a:p>
          <a:p>
            <a:pPr lvl="1"/>
            <a:r>
              <a:rPr lang="es-MX" dirty="0" smtClean="0"/>
              <a:t>Supone la existencia de una clase base y una jerarquía de clases que contienen clases derivadas, que han heredado la estructura y comportamiento de sus antecesores.</a:t>
            </a:r>
          </a:p>
          <a:p>
            <a:r>
              <a:rPr lang="es-MX" dirty="0" smtClean="0"/>
              <a:t>El objetivo final de la herencia es la reutilización</a:t>
            </a:r>
            <a:endParaRPr lang="es-MX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Herencia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1478"/>
          </a:xfrm>
        </p:spPr>
        <p:txBody>
          <a:bodyPr>
            <a:normAutofit fontScale="92500" lnSpcReduction="20000"/>
          </a:bodyPr>
          <a:lstStyle/>
          <a:p>
            <a:r>
              <a:rPr lang="es-MX" dirty="0" smtClean="0"/>
              <a:t>Clasificación taxonómica de los vertebrados</a:t>
            </a:r>
            <a:endParaRPr lang="es-MX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2372" y="2357430"/>
            <a:ext cx="6377148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Herencia … 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43179"/>
          </a:xfrm>
        </p:spPr>
        <p:txBody>
          <a:bodyPr>
            <a:normAutofit fontScale="92500" lnSpcReduction="20000"/>
          </a:bodyPr>
          <a:lstStyle/>
          <a:p>
            <a:r>
              <a:rPr lang="es-MX" dirty="0" smtClean="0"/>
              <a:t>Cada vez que se especializa una clase, esta clase hereda atributos y comportamientos de su clase base o superclase; pero además se añaden nuevos comportamientos o se modifican algunos de los ya heredados.</a:t>
            </a:r>
          </a:p>
          <a:p>
            <a:r>
              <a:rPr lang="es-MX" dirty="0" smtClean="0"/>
              <a:t>Ej. Qué hereda la clase leo de sus clases padre.</a:t>
            </a:r>
            <a:endParaRPr lang="es-MX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4143380"/>
            <a:ext cx="518441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Herencia … (4)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 smtClean="0"/>
              <a:t>Semánticamente, la herencia denota una relación “es un”</a:t>
            </a:r>
          </a:p>
          <a:p>
            <a:r>
              <a:rPr lang="es-MX" dirty="0" smtClean="0"/>
              <a:t>Por ejemplo, un león </a:t>
            </a:r>
            <a:r>
              <a:rPr lang="es-MX" dirty="0" smtClean="0">
                <a:solidFill>
                  <a:srgbClr val="0070C0"/>
                </a:solidFill>
              </a:rPr>
              <a:t>es un </a:t>
            </a:r>
            <a:r>
              <a:rPr lang="es-MX" dirty="0" smtClean="0"/>
              <a:t>felino, a su vez un felino </a:t>
            </a:r>
            <a:r>
              <a:rPr lang="es-MX" dirty="0" smtClean="0">
                <a:solidFill>
                  <a:srgbClr val="0070C0"/>
                </a:solidFill>
              </a:rPr>
              <a:t>es un </a:t>
            </a:r>
            <a:r>
              <a:rPr lang="es-MX" dirty="0" smtClean="0"/>
              <a:t>carnívoro. De esta forma la herencia implica una jerarquía de generalización/especialización, en la que una subclase especializa el comportamiento o estructura más general de sus superclases.</a:t>
            </a:r>
            <a:endParaRPr lang="es-MX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Herencia … (5)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7901014" cy="900105"/>
          </a:xfrm>
        </p:spPr>
        <p:txBody>
          <a:bodyPr>
            <a:normAutofit fontScale="92500" lnSpcReduction="20000"/>
          </a:bodyPr>
          <a:lstStyle/>
          <a:p>
            <a:r>
              <a:rPr lang="es-MX" dirty="0" smtClean="0"/>
              <a:t>Ejemplo de herencia de estructura y de comportamiento</a:t>
            </a:r>
            <a:endParaRPr lang="es-MX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7245" y="2428868"/>
            <a:ext cx="4864887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95764" y="3839306"/>
            <a:ext cx="5205392" cy="2875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Herencia … (6)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8667"/>
          </a:xfrm>
        </p:spPr>
        <p:txBody>
          <a:bodyPr>
            <a:normAutofit fontScale="92500" lnSpcReduction="20000"/>
          </a:bodyPr>
          <a:lstStyle/>
          <a:p>
            <a:r>
              <a:rPr lang="es-MX" dirty="0" smtClean="0"/>
              <a:t>Desde la perspectiva de UML la herencia se modela de la siguiente forma:</a:t>
            </a:r>
            <a:endParaRPr lang="es-MX" dirty="0"/>
          </a:p>
        </p:txBody>
      </p:sp>
      <p:pic>
        <p:nvPicPr>
          <p:cNvPr id="31748" name="Picture 4" descr="Resultado de imagen"/>
          <p:cNvPicPr>
            <a:picLocks noChangeAspect="1" noChangeArrowheads="1"/>
          </p:cNvPicPr>
          <p:nvPr/>
        </p:nvPicPr>
        <p:blipFill>
          <a:blip r:embed="rId2"/>
          <a:srcRect l="4607" t="31915" r="1412" b="11620"/>
          <a:stretch>
            <a:fillRect/>
          </a:stretch>
        </p:blipFill>
        <p:spPr bwMode="auto">
          <a:xfrm>
            <a:off x="3469370" y="4214818"/>
            <a:ext cx="5544210" cy="2500330"/>
          </a:xfrm>
          <a:prstGeom prst="rect">
            <a:avLst/>
          </a:prstGeom>
          <a:noFill/>
        </p:spPr>
      </p:pic>
      <p:pic>
        <p:nvPicPr>
          <p:cNvPr id="31746" name="Picture 2" descr="Resultado de image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2500306"/>
            <a:ext cx="3650251" cy="257176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Asociación y Agregación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MX" dirty="0" smtClean="0"/>
              <a:t>La herencia representa una relación de generalización. Sin embargo existen otro tipo de relaciones entre clases.</a:t>
            </a:r>
          </a:p>
          <a:p>
            <a:r>
              <a:rPr lang="es-MX" dirty="0" smtClean="0"/>
              <a:t>Se dice que existe una relación de asociación cuando dos clases “colaboran” de forma explícita para llevar a cabo una tarea. En estas relaciones se específica no solo la dirección en la cual se lleva a cabo la colaboración, sino el “nombre de la relación” que se desarrolla.</a:t>
            </a:r>
          </a:p>
          <a:p>
            <a:r>
              <a:rPr lang="es-MX" dirty="0" smtClean="0"/>
              <a:t>La agregación es una forma especial de asociación que define una relación del tipo “se integra o colabora con”</a:t>
            </a:r>
            <a:endParaRPr lang="es-MX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Asociación y Agregación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00567"/>
          </a:xfrm>
        </p:spPr>
        <p:txBody>
          <a:bodyPr>
            <a:normAutofit/>
          </a:bodyPr>
          <a:lstStyle/>
          <a:p>
            <a:r>
              <a:rPr lang="es-MX" dirty="0" smtClean="0"/>
              <a:t>Ejemplos de asociación y agregación:</a:t>
            </a:r>
          </a:p>
          <a:p>
            <a:pPr lvl="1"/>
            <a:r>
              <a:rPr lang="es-MX" dirty="0" smtClean="0"/>
              <a:t>Asociación:</a:t>
            </a:r>
          </a:p>
          <a:p>
            <a:pPr lvl="1"/>
            <a:endParaRPr lang="es-MX" dirty="0" smtClean="0"/>
          </a:p>
          <a:p>
            <a:pPr lvl="1"/>
            <a:endParaRPr lang="es-MX" dirty="0" smtClean="0"/>
          </a:p>
          <a:p>
            <a:pPr lvl="1"/>
            <a:endParaRPr lang="es-MX" dirty="0" smtClean="0"/>
          </a:p>
          <a:p>
            <a:pPr lvl="1"/>
            <a:r>
              <a:rPr lang="es-MX" dirty="0" smtClean="0"/>
              <a:t>Agregación:</a:t>
            </a:r>
            <a:endParaRPr lang="es-MX" dirty="0"/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1" y="2714620"/>
            <a:ext cx="5143536" cy="717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85917" y="3571876"/>
            <a:ext cx="4869977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7 Flecha derecha"/>
          <p:cNvSpPr/>
          <p:nvPr/>
        </p:nvSpPr>
        <p:spPr>
          <a:xfrm>
            <a:off x="4572000" y="2762245"/>
            <a:ext cx="21431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8 Flecha derecha"/>
          <p:cNvSpPr/>
          <p:nvPr/>
        </p:nvSpPr>
        <p:spPr>
          <a:xfrm>
            <a:off x="4629150" y="3605214"/>
            <a:ext cx="21431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9945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79" y="4857760"/>
            <a:ext cx="4829387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4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14744" y="5929330"/>
            <a:ext cx="4929222" cy="605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Asociación y Agregación … 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dirty="0" smtClean="0"/>
              <a:t>Los objetos pueden contener otros objetos, los cuales se denominan compuestos.</a:t>
            </a:r>
          </a:p>
          <a:p>
            <a:r>
              <a:rPr lang="es-MX" dirty="0" smtClean="0"/>
              <a:t>En un sentido estricto, no contienen otros objetos, sino atributos que hacen referencia a alguna clase previamente implementada. Esto ofrece dos ventajas:</a:t>
            </a:r>
          </a:p>
          <a:p>
            <a:pPr lvl="1"/>
            <a:r>
              <a:rPr lang="es-MX" dirty="0" smtClean="0"/>
              <a:t>Las clases “contenidos” pueden cambiar de tamaño, sin afectar a la clase que las contiene.</a:t>
            </a:r>
          </a:p>
          <a:p>
            <a:pPr lvl="1"/>
            <a:r>
              <a:rPr lang="es-MX" dirty="0" smtClean="0"/>
              <a:t>Las clases están libres para participar en cualquier número de objetos complejos.</a:t>
            </a:r>
            <a:endParaRPr lang="es-MX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Polimorfismo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ES" dirty="0" smtClean="0"/>
              <a:t>La mayoría de los </a:t>
            </a:r>
            <a:r>
              <a:rPr lang="es-ES" dirty="0" smtClean="0"/>
              <a:t>lenguajes de </a:t>
            </a:r>
            <a:r>
              <a:rPr lang="es-ES" dirty="0" smtClean="0"/>
              <a:t>programación orientada a objetos proporcionan </a:t>
            </a:r>
            <a:r>
              <a:rPr lang="es-ES" dirty="0" smtClean="0"/>
              <a:t>el polimorfismo </a:t>
            </a:r>
            <a:r>
              <a:rPr lang="es-ES" dirty="0" smtClean="0"/>
              <a:t>a través de la herencia. </a:t>
            </a:r>
            <a:r>
              <a:rPr lang="es-ES" dirty="0" smtClean="0"/>
              <a:t>Esto  </a:t>
            </a:r>
            <a:r>
              <a:rPr lang="es-ES" dirty="0" smtClean="0"/>
              <a:t>implica definir métodos en una clase base y reemplazarlos con nuevas implementaciones en clases derivadas</a:t>
            </a:r>
            <a:r>
              <a:rPr lang="es-ES" dirty="0" smtClean="0"/>
              <a:t>.</a:t>
            </a:r>
          </a:p>
          <a:p>
            <a:r>
              <a:rPr lang="es-ES" dirty="0" smtClean="0"/>
              <a:t>En términos más simples, el polimorfismo es la habilidad que adquieren los objetos de responder en forma diferente al mismo mensaje.</a:t>
            </a:r>
            <a:endParaRPr lang="es-MX" dirty="0" smtClean="0"/>
          </a:p>
          <a:p>
            <a:endParaRPr lang="es-MX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Polimorfismo … (2)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00171"/>
          </a:xfrm>
        </p:spPr>
        <p:txBody>
          <a:bodyPr>
            <a:normAutofit lnSpcReduction="10000"/>
          </a:bodyPr>
          <a:lstStyle/>
          <a:p>
            <a:r>
              <a:rPr lang="es-MX" dirty="0" smtClean="0"/>
              <a:t>Un ejemplo cotidiano de polimorfismo</a:t>
            </a:r>
          </a:p>
          <a:p>
            <a:pPr lvl="1"/>
            <a:r>
              <a:rPr lang="es-MX" dirty="0" smtClean="0"/>
              <a:t>El mismo mensaje se envía a muchos tipos de objetos.</a:t>
            </a:r>
            <a:endParaRPr lang="es-MX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000372"/>
            <a:ext cx="6961975" cy="3752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/>
              <a:t>Polimorfismo … (3)</a:t>
            </a:r>
            <a:endParaRPr lang="es-MX" sz="4000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4972056" cy="4525963"/>
          </a:xfrm>
        </p:spPr>
        <p:txBody>
          <a:bodyPr/>
          <a:lstStyle/>
          <a:p>
            <a:r>
              <a:rPr lang="es-MX" dirty="0" smtClean="0"/>
              <a:t>Ejemplo de polimorfismo</a:t>
            </a:r>
          </a:p>
          <a:p>
            <a:pPr lvl="1"/>
            <a:r>
              <a:rPr lang="es-MX" dirty="0" smtClean="0"/>
              <a:t>Figuras geométricas.</a:t>
            </a:r>
          </a:p>
          <a:p>
            <a:pPr lvl="2"/>
            <a:r>
              <a:rPr lang="es-MX" dirty="0" smtClean="0"/>
              <a:t>Todas tienen la propiedad de calcular el área, dicha propiedad pudo ser heredada desde una clase base.</a:t>
            </a:r>
          </a:p>
          <a:p>
            <a:pPr lvl="2"/>
            <a:r>
              <a:rPr lang="es-MX" dirty="0" smtClean="0"/>
              <a:t>Sin embargo, cada figura puede realizar esta operación de forma distinta</a:t>
            </a:r>
            <a:endParaRPr lang="es-MX" dirty="0"/>
          </a:p>
        </p:txBody>
      </p:sp>
      <p:sp>
        <p:nvSpPr>
          <p:cNvPr id="5" name="4 Rectángulo"/>
          <p:cNvSpPr/>
          <p:nvPr/>
        </p:nvSpPr>
        <p:spPr>
          <a:xfrm>
            <a:off x="6572264" y="2643182"/>
            <a:ext cx="1143008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Figura</a:t>
            </a:r>
            <a:endParaRPr lang="es-MX" sz="1400" dirty="0"/>
          </a:p>
        </p:txBody>
      </p:sp>
      <p:cxnSp>
        <p:nvCxnSpPr>
          <p:cNvPr id="7" name="6 Conector recto de flecha"/>
          <p:cNvCxnSpPr>
            <a:endCxn id="5" idx="2"/>
          </p:cNvCxnSpPr>
          <p:nvPr/>
        </p:nvCxnSpPr>
        <p:spPr>
          <a:xfrm rot="5400000" flipH="1" flipV="1">
            <a:off x="6965173" y="3178967"/>
            <a:ext cx="357190" cy="158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6143636" y="3357562"/>
            <a:ext cx="2000264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 rot="5400000">
            <a:off x="5965835" y="3536157"/>
            <a:ext cx="356396" cy="79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 rot="5400000">
            <a:off x="6930248" y="3571082"/>
            <a:ext cx="428628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"/>
          <p:cNvCxnSpPr/>
          <p:nvPr/>
        </p:nvCxnSpPr>
        <p:spPr>
          <a:xfrm rot="5400000">
            <a:off x="7965305" y="3536157"/>
            <a:ext cx="357190" cy="1588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5572132" y="371475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Triángulo</a:t>
            </a:r>
            <a:endParaRPr lang="es-MX" sz="1400" dirty="0"/>
          </a:p>
        </p:txBody>
      </p:sp>
      <p:sp>
        <p:nvSpPr>
          <p:cNvPr id="16" name="15 Rectángulo"/>
          <p:cNvSpPr/>
          <p:nvPr/>
        </p:nvSpPr>
        <p:spPr>
          <a:xfrm>
            <a:off x="6572264" y="3714752"/>
            <a:ext cx="1000132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Rectángulo</a:t>
            </a:r>
            <a:endParaRPr lang="es-MX" sz="1400" dirty="0"/>
          </a:p>
        </p:txBody>
      </p:sp>
      <p:sp>
        <p:nvSpPr>
          <p:cNvPr id="17" name="16 Rectángulo"/>
          <p:cNvSpPr/>
          <p:nvPr/>
        </p:nvSpPr>
        <p:spPr>
          <a:xfrm>
            <a:off x="7643834" y="3714752"/>
            <a:ext cx="928694" cy="357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smtClean="0"/>
              <a:t>Círculo</a:t>
            </a:r>
            <a:endParaRPr lang="es-MX" sz="1400" dirty="0"/>
          </a:p>
        </p:txBody>
      </p:sp>
      <p:sp>
        <p:nvSpPr>
          <p:cNvPr id="19" name="18 CuadroTexto"/>
          <p:cNvSpPr txBox="1"/>
          <p:nvPr/>
        </p:nvSpPr>
        <p:spPr>
          <a:xfrm>
            <a:off x="6858016" y="2357430"/>
            <a:ext cx="63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err="1" smtClean="0"/>
              <a:t>Area</a:t>
            </a:r>
            <a:r>
              <a:rPr lang="es-MX" sz="1400" dirty="0" smtClean="0"/>
              <a:t>()</a:t>
            </a:r>
            <a:endParaRPr lang="es-MX" sz="1400" dirty="0"/>
          </a:p>
        </p:txBody>
      </p:sp>
      <p:sp>
        <p:nvSpPr>
          <p:cNvPr id="20" name="19 CuadroTexto"/>
          <p:cNvSpPr txBox="1"/>
          <p:nvPr/>
        </p:nvSpPr>
        <p:spPr>
          <a:xfrm>
            <a:off x="5580733" y="4049917"/>
            <a:ext cx="63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err="1" smtClean="0"/>
              <a:t>Area</a:t>
            </a:r>
            <a:r>
              <a:rPr lang="es-MX" sz="1400" dirty="0" smtClean="0"/>
              <a:t>()</a:t>
            </a:r>
            <a:endParaRPr lang="es-MX" sz="1400" dirty="0"/>
          </a:p>
        </p:txBody>
      </p:sp>
      <p:sp>
        <p:nvSpPr>
          <p:cNvPr id="21" name="20 CuadroTexto"/>
          <p:cNvSpPr txBox="1"/>
          <p:nvPr/>
        </p:nvSpPr>
        <p:spPr>
          <a:xfrm>
            <a:off x="7786710" y="4071942"/>
            <a:ext cx="63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err="1" smtClean="0"/>
              <a:t>Area</a:t>
            </a:r>
            <a:r>
              <a:rPr lang="es-MX" sz="1400" dirty="0" smtClean="0"/>
              <a:t>()</a:t>
            </a:r>
            <a:endParaRPr lang="es-MX" sz="1400" dirty="0"/>
          </a:p>
        </p:txBody>
      </p:sp>
      <p:sp>
        <p:nvSpPr>
          <p:cNvPr id="22" name="21 CuadroTexto"/>
          <p:cNvSpPr txBox="1"/>
          <p:nvPr/>
        </p:nvSpPr>
        <p:spPr>
          <a:xfrm>
            <a:off x="6723741" y="4049917"/>
            <a:ext cx="6343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1400" dirty="0" err="1" smtClean="0"/>
              <a:t>Area</a:t>
            </a:r>
            <a:r>
              <a:rPr lang="es-MX" sz="1400" dirty="0" smtClean="0"/>
              <a:t>()</a:t>
            </a:r>
            <a:endParaRPr lang="es-MX" sz="1400" dirty="0"/>
          </a:p>
        </p:txBody>
      </p:sp>
      <p:sp>
        <p:nvSpPr>
          <p:cNvPr id="28" name="27 Triángulo isósceles"/>
          <p:cNvSpPr/>
          <p:nvPr/>
        </p:nvSpPr>
        <p:spPr>
          <a:xfrm>
            <a:off x="5357818" y="4429132"/>
            <a:ext cx="1143008" cy="857256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err="1" smtClean="0"/>
              <a:t>Area</a:t>
            </a:r>
            <a:r>
              <a:rPr lang="es-MX" sz="1000" dirty="0" smtClean="0"/>
              <a:t>= (b*a)/2</a:t>
            </a:r>
            <a:endParaRPr lang="es-MX" sz="1000" dirty="0"/>
          </a:p>
        </p:txBody>
      </p:sp>
      <p:sp>
        <p:nvSpPr>
          <p:cNvPr id="29" name="28 Rectángulo"/>
          <p:cNvSpPr/>
          <p:nvPr/>
        </p:nvSpPr>
        <p:spPr>
          <a:xfrm>
            <a:off x="6643702" y="4429132"/>
            <a:ext cx="857256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err="1" smtClean="0"/>
              <a:t>Area</a:t>
            </a:r>
            <a:r>
              <a:rPr lang="es-MX" sz="1000" dirty="0" smtClean="0"/>
              <a:t> = l*l</a:t>
            </a:r>
            <a:endParaRPr lang="es-MX" sz="1000" dirty="0"/>
          </a:p>
        </p:txBody>
      </p:sp>
      <p:sp>
        <p:nvSpPr>
          <p:cNvPr id="30" name="29 Elipse"/>
          <p:cNvSpPr/>
          <p:nvPr/>
        </p:nvSpPr>
        <p:spPr>
          <a:xfrm>
            <a:off x="7715272" y="4357694"/>
            <a:ext cx="928694" cy="9286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000" dirty="0" err="1" smtClean="0"/>
              <a:t>Area</a:t>
            </a:r>
            <a:r>
              <a:rPr lang="es-MX" sz="1000" dirty="0" smtClean="0"/>
              <a:t> = pi*r*r</a:t>
            </a:r>
            <a:endParaRPr lang="es-MX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Referencias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1600" dirty="0" err="1" smtClean="0"/>
              <a:t>Weitzenfeld</a:t>
            </a:r>
            <a:r>
              <a:rPr lang="es-MX" sz="1600" dirty="0" smtClean="0"/>
              <a:t> </a:t>
            </a:r>
            <a:r>
              <a:rPr lang="es-MX" sz="1600" dirty="0" smtClean="0"/>
              <a:t>A. (2004). </a:t>
            </a:r>
            <a:r>
              <a:rPr lang="es-MX" sz="1600" b="1" i="1" dirty="0" smtClean="0"/>
              <a:t>Ingeniería de Software orientada a objetos con UML, Java e Internet</a:t>
            </a:r>
            <a:r>
              <a:rPr lang="es-MX" sz="1600" dirty="0" smtClean="0"/>
              <a:t>. México: </a:t>
            </a:r>
            <a:r>
              <a:rPr lang="es-MX" sz="1600" dirty="0" err="1" smtClean="0"/>
              <a:t>Thomson</a:t>
            </a:r>
            <a:r>
              <a:rPr lang="es-MX" sz="1600" dirty="0" smtClean="0"/>
              <a:t>.</a:t>
            </a:r>
          </a:p>
          <a:p>
            <a:r>
              <a:rPr lang="es-MX" sz="1600" dirty="0" smtClean="0"/>
              <a:t>Galicia Hernández </a:t>
            </a:r>
            <a:r>
              <a:rPr lang="es-MX" sz="1600" dirty="0" err="1" smtClean="0"/>
              <a:t>Yalú</a:t>
            </a:r>
            <a:r>
              <a:rPr lang="es-MX" sz="1600" dirty="0" smtClean="0"/>
              <a:t> (</a:t>
            </a:r>
            <a:r>
              <a:rPr lang="es-MX" sz="1600" dirty="0" err="1" smtClean="0"/>
              <a:t>sf</a:t>
            </a:r>
            <a:r>
              <a:rPr lang="es-MX" sz="1600" dirty="0" smtClean="0"/>
              <a:t>.) </a:t>
            </a:r>
            <a:r>
              <a:rPr lang="es-MX" sz="1600" b="1" dirty="0" smtClean="0"/>
              <a:t>Paradigma orientado a objetos</a:t>
            </a:r>
            <a:r>
              <a:rPr lang="es-MX" sz="1600" dirty="0" smtClean="0"/>
              <a:t>. FCC/BUAP.</a:t>
            </a:r>
          </a:p>
          <a:p>
            <a:r>
              <a:rPr lang="es-MX" sz="1600" dirty="0" err="1" smtClean="0"/>
              <a:t>Castells</a:t>
            </a:r>
            <a:r>
              <a:rPr lang="es-MX" sz="1600" dirty="0" smtClean="0"/>
              <a:t> Pablo (2011). </a:t>
            </a:r>
            <a:r>
              <a:rPr lang="es-MX" sz="1600" b="1" dirty="0" smtClean="0"/>
              <a:t>Conceptos de programación orientada a objetos</a:t>
            </a:r>
            <a:r>
              <a:rPr lang="es-MX" sz="1600" dirty="0" smtClean="0"/>
              <a:t>. Escuela Politécnica Superior. Universidad Autónoma de Madrid.</a:t>
            </a:r>
            <a:endParaRPr lang="es-MX" sz="1600" dirty="0" smtClean="0"/>
          </a:p>
          <a:p>
            <a:endParaRPr lang="es-MX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1438</TotalTime>
  <Words>1805</Words>
  <PresentationFormat>Presentación en pantalla (4:3)</PresentationFormat>
  <Paragraphs>301</Paragraphs>
  <Slides>31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2" baseType="lpstr">
      <vt:lpstr>Tema de Office</vt:lpstr>
      <vt:lpstr>Programación Orientada a Objetos I</vt:lpstr>
      <vt:lpstr>Contenido</vt:lpstr>
      <vt:lpstr>Abstracción y programación</vt:lpstr>
      <vt:lpstr>Abstracción y programación … (2)</vt:lpstr>
      <vt:lpstr>Abstracción y programación … (3)</vt:lpstr>
      <vt:lpstr>Tipos de datos abstractos</vt:lpstr>
      <vt:lpstr>Tipos de datos Abstractos … (2)</vt:lpstr>
      <vt:lpstr>Tipos de datos Abstractos … (3)</vt:lpstr>
      <vt:lpstr>Clase</vt:lpstr>
      <vt:lpstr>Clase … (2)</vt:lpstr>
      <vt:lpstr>Clase … (3)</vt:lpstr>
      <vt:lpstr>Clases … (4)</vt:lpstr>
      <vt:lpstr>Objetos y mensajes</vt:lpstr>
      <vt:lpstr>Objetos y mensajes … (2)</vt:lpstr>
      <vt:lpstr>Objetos y mensajes … (3)</vt:lpstr>
      <vt:lpstr>Objetos y mensajes … (4)</vt:lpstr>
      <vt:lpstr>Objetos y mensajes … (5)</vt:lpstr>
      <vt:lpstr>Objetos y mensajes … (6)</vt:lpstr>
      <vt:lpstr>Herencia</vt:lpstr>
      <vt:lpstr>Herencia … (2)</vt:lpstr>
      <vt:lpstr>Herencia … (3)</vt:lpstr>
      <vt:lpstr>Herencia … (4)</vt:lpstr>
      <vt:lpstr>Herencia … (5)</vt:lpstr>
      <vt:lpstr>Herencia … (6)</vt:lpstr>
      <vt:lpstr>Asociación y Agregación</vt:lpstr>
      <vt:lpstr>Asociación y Agregación … (2)</vt:lpstr>
      <vt:lpstr>Asociación y Agregación … (3)</vt:lpstr>
      <vt:lpstr>Polimorfismo</vt:lpstr>
      <vt:lpstr>Polimorfismo … (2)</vt:lpstr>
      <vt:lpstr>Polimorfismo … (3)</vt:lpstr>
      <vt:lpstr>Referencias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I</dc:title>
  <dc:creator>Jesus</dc:creator>
  <cp:lastModifiedBy>Jesus</cp:lastModifiedBy>
  <cp:revision>128</cp:revision>
  <dcterms:created xsi:type="dcterms:W3CDTF">2016-08-11T15:02:05Z</dcterms:created>
  <dcterms:modified xsi:type="dcterms:W3CDTF">2016-10-12T21:42:02Z</dcterms:modified>
</cp:coreProperties>
</file>