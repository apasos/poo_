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4" r:id="rId8"/>
    <p:sldId id="265" r:id="rId9"/>
    <p:sldId id="266" r:id="rId10"/>
    <p:sldId id="267" r:id="rId11"/>
    <p:sldId id="260" r:id="rId12"/>
    <p:sldId id="268" r:id="rId13"/>
    <p:sldId id="269" r:id="rId14"/>
    <p:sldId id="270" r:id="rId15"/>
    <p:sldId id="271" r:id="rId16"/>
    <p:sldId id="263" r:id="rId17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9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12/08/2016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12/08/2016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12/08/2016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12/08/2016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12/08/2016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12/08/2016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12/08/2016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12/08/2016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12/08/2016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12/08/2016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12/08/2016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12/08/2016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Programación Orientada a Objetos I</a:t>
            </a:r>
            <a:endParaRPr lang="es-MX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>
                <a:solidFill>
                  <a:schemeClr val="tx1"/>
                </a:solidFill>
              </a:rPr>
              <a:t>Unidad 1:</a:t>
            </a:r>
          </a:p>
          <a:p>
            <a:r>
              <a:rPr lang="es-MX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Introducción a la Programación Orientada a Objetos</a:t>
            </a:r>
            <a:endParaRPr lang="es-MX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Contenido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Paradigmas de programación</a:t>
            </a:r>
          </a:p>
          <a:p>
            <a:r>
              <a:rPr lang="es-MX" dirty="0" smtClean="0"/>
              <a:t>El paradigma orientado a objetos</a:t>
            </a:r>
          </a:p>
          <a:p>
            <a:r>
              <a:rPr lang="es-MX" dirty="0" smtClean="0">
                <a:solidFill>
                  <a:schemeClr val="bg1">
                    <a:lumMod val="65000"/>
                  </a:schemeClr>
                </a:solidFill>
              </a:rPr>
              <a:t>Lenguajes de programación orientados a objetos</a:t>
            </a:r>
            <a:r>
              <a:rPr lang="es-MX" dirty="0" smtClean="0"/>
              <a:t>.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Paradigmas de programación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dirty="0" smtClean="0"/>
              <a:t>Definición de paradigma:</a:t>
            </a:r>
          </a:p>
          <a:p>
            <a:pPr lvl="1"/>
            <a:r>
              <a:rPr lang="es-MX" dirty="0" smtClean="0"/>
              <a:t>Teoría o conjunto de teorías cuyo núcleo central se acepta sin cuestionar la base y modelo para resolver problemas y avanzar en el conocimiento; p. ej., en la ciencia, las leyes del movimiento y la gravitación de Newton y la teoría de la evolución de Darwin.</a:t>
            </a:r>
          </a:p>
          <a:p>
            <a:pPr lvl="1"/>
            <a:endParaRPr lang="es-MX" dirty="0" smtClean="0"/>
          </a:p>
          <a:p>
            <a:r>
              <a:rPr lang="es-MX" dirty="0" smtClean="0"/>
              <a:t>“Un paradigma de programación indica un método de realizar cómputos y la manera en que se deben estructurar y organizar las tareas que debe llevar a cabo un programa”</a:t>
            </a:r>
            <a:endParaRPr lang="es-MX" dirty="0"/>
          </a:p>
        </p:txBody>
      </p:sp>
      <p:pic>
        <p:nvPicPr>
          <p:cNvPr id="1026" name="Picture 2" descr="Real Academia Español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72066" y="1285860"/>
            <a:ext cx="1785950" cy="71438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Paradigmas de programación … (2)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dirty="0" smtClean="0"/>
              <a:t>Las construcciones básicas de los programas se ven influenciados por el </a:t>
            </a:r>
            <a:r>
              <a:rPr lang="es-MX" b="1" dirty="0" smtClean="0"/>
              <a:t>modelo de cómputo</a:t>
            </a:r>
            <a:r>
              <a:rPr lang="es-MX" dirty="0" smtClean="0"/>
              <a:t> al que está asociado un paradigma de programación.  Por ejemplo:</a:t>
            </a:r>
          </a:p>
          <a:p>
            <a:pPr lvl="1"/>
            <a:r>
              <a:rPr lang="es-MX" dirty="0" smtClean="0"/>
              <a:t>En el enfoque </a:t>
            </a:r>
            <a:r>
              <a:rPr lang="es-MX" b="1" dirty="0" smtClean="0"/>
              <a:t>imperativo</a:t>
            </a:r>
            <a:r>
              <a:rPr lang="es-MX" dirty="0" smtClean="0"/>
              <a:t> se debe indicar el </a:t>
            </a:r>
            <a:r>
              <a:rPr lang="es-MX" b="1" dirty="0" smtClean="0"/>
              <a:t>cómo</a:t>
            </a:r>
            <a:r>
              <a:rPr lang="es-MX" dirty="0" smtClean="0"/>
              <a:t> </a:t>
            </a:r>
            <a:r>
              <a:rPr lang="es-MX" b="1" dirty="0" smtClean="0"/>
              <a:t>se debe calcular</a:t>
            </a:r>
            <a:r>
              <a:rPr lang="es-MX" dirty="0" smtClean="0"/>
              <a:t>.</a:t>
            </a:r>
          </a:p>
          <a:p>
            <a:pPr lvl="1"/>
            <a:r>
              <a:rPr lang="es-MX" dirty="0" smtClean="0"/>
              <a:t>En el  enfoque </a:t>
            </a:r>
            <a:r>
              <a:rPr lang="es-MX" b="1" dirty="0" smtClean="0"/>
              <a:t>declarativo</a:t>
            </a:r>
            <a:r>
              <a:rPr lang="es-MX" dirty="0" smtClean="0"/>
              <a:t> se debe indicar el </a:t>
            </a:r>
            <a:r>
              <a:rPr lang="es-MX" b="1" dirty="0" smtClean="0"/>
              <a:t>qué</a:t>
            </a:r>
            <a:r>
              <a:rPr lang="es-MX" dirty="0" smtClean="0"/>
              <a:t> </a:t>
            </a:r>
            <a:r>
              <a:rPr lang="es-MX" b="1" dirty="0" smtClean="0"/>
              <a:t>se debe calcular</a:t>
            </a:r>
            <a:r>
              <a:rPr lang="es-MX" dirty="0" smtClean="0"/>
              <a:t>.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Paradigmas de programación … (3)</a:t>
            </a:r>
            <a:endParaRPr lang="es-MX" sz="4000" dirty="0"/>
          </a:p>
        </p:txBody>
      </p:sp>
      <p:sp>
        <p:nvSpPr>
          <p:cNvPr id="4" name="3 Rectángulo"/>
          <p:cNvSpPr/>
          <p:nvPr/>
        </p:nvSpPr>
        <p:spPr>
          <a:xfrm>
            <a:off x="4146799" y="1857364"/>
            <a:ext cx="1357322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Modelo de Cómputo</a:t>
            </a:r>
            <a:endParaRPr lang="es-MX" dirty="0"/>
          </a:p>
        </p:txBody>
      </p:sp>
      <p:sp>
        <p:nvSpPr>
          <p:cNvPr id="6" name="5 Rectángulo"/>
          <p:cNvSpPr/>
          <p:nvPr/>
        </p:nvSpPr>
        <p:spPr>
          <a:xfrm>
            <a:off x="2183789" y="2928934"/>
            <a:ext cx="1357322" cy="71438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Imperativo</a:t>
            </a:r>
          </a:p>
          <a:p>
            <a:pPr algn="ctr"/>
            <a:r>
              <a:rPr lang="es-MX" sz="900" dirty="0" smtClean="0"/>
              <a:t>(cómo se debe calcular)</a:t>
            </a:r>
            <a:endParaRPr lang="es-MX" sz="900" dirty="0"/>
          </a:p>
        </p:txBody>
      </p:sp>
      <p:sp>
        <p:nvSpPr>
          <p:cNvPr id="8" name="7 Rectángulo"/>
          <p:cNvSpPr/>
          <p:nvPr/>
        </p:nvSpPr>
        <p:spPr>
          <a:xfrm>
            <a:off x="6147063" y="2928934"/>
            <a:ext cx="1357322" cy="7143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Declarativo</a:t>
            </a:r>
          </a:p>
          <a:p>
            <a:pPr algn="ctr"/>
            <a:r>
              <a:rPr lang="es-MX" sz="900" dirty="0" smtClean="0"/>
              <a:t>(qué se debe calcular)</a:t>
            </a:r>
            <a:endParaRPr lang="es-MX" sz="900" dirty="0"/>
          </a:p>
        </p:txBody>
      </p:sp>
      <p:sp>
        <p:nvSpPr>
          <p:cNvPr id="10" name="9 Rectángulo"/>
          <p:cNvSpPr/>
          <p:nvPr/>
        </p:nvSpPr>
        <p:spPr>
          <a:xfrm>
            <a:off x="789213" y="4214818"/>
            <a:ext cx="1285884" cy="714380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 smtClean="0"/>
              <a:t>Estructurado</a:t>
            </a:r>
            <a:endParaRPr lang="es-MX" sz="1600" dirty="0"/>
          </a:p>
        </p:txBody>
      </p:sp>
      <p:sp>
        <p:nvSpPr>
          <p:cNvPr id="11" name="10 Rectángulo"/>
          <p:cNvSpPr/>
          <p:nvPr/>
        </p:nvSpPr>
        <p:spPr>
          <a:xfrm>
            <a:off x="2217973" y="4214818"/>
            <a:ext cx="1285884" cy="714380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 smtClean="0"/>
              <a:t>Modular</a:t>
            </a:r>
            <a:endParaRPr lang="es-MX" sz="1600" dirty="0"/>
          </a:p>
        </p:txBody>
      </p:sp>
      <p:sp>
        <p:nvSpPr>
          <p:cNvPr id="12" name="11 Rectángulo"/>
          <p:cNvSpPr/>
          <p:nvPr/>
        </p:nvSpPr>
        <p:spPr>
          <a:xfrm>
            <a:off x="3646733" y="4214818"/>
            <a:ext cx="1285884" cy="714380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 smtClean="0"/>
              <a:t>Orientado a Objetos</a:t>
            </a:r>
            <a:endParaRPr lang="es-MX" sz="1600" dirty="0"/>
          </a:p>
        </p:txBody>
      </p:sp>
      <p:sp>
        <p:nvSpPr>
          <p:cNvPr id="13" name="12 Rectángulo"/>
          <p:cNvSpPr/>
          <p:nvPr/>
        </p:nvSpPr>
        <p:spPr>
          <a:xfrm>
            <a:off x="5432683" y="4214818"/>
            <a:ext cx="1285884" cy="71438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 smtClean="0"/>
              <a:t>Funcional</a:t>
            </a:r>
            <a:endParaRPr lang="es-MX" sz="1600" dirty="0"/>
          </a:p>
        </p:txBody>
      </p:sp>
      <p:sp>
        <p:nvSpPr>
          <p:cNvPr id="14" name="13 Rectángulo"/>
          <p:cNvSpPr/>
          <p:nvPr/>
        </p:nvSpPr>
        <p:spPr>
          <a:xfrm>
            <a:off x="7004319" y="4214818"/>
            <a:ext cx="1285884" cy="71438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 smtClean="0"/>
              <a:t>Lógico</a:t>
            </a:r>
            <a:endParaRPr lang="es-MX" sz="1600" dirty="0"/>
          </a:p>
        </p:txBody>
      </p:sp>
      <p:cxnSp>
        <p:nvCxnSpPr>
          <p:cNvPr id="16" name="15 Forma"/>
          <p:cNvCxnSpPr>
            <a:stCxn id="4" idx="1"/>
            <a:endCxn id="6" idx="0"/>
          </p:cNvCxnSpPr>
          <p:nvPr/>
        </p:nvCxnSpPr>
        <p:spPr>
          <a:xfrm rot="10800000" flipV="1">
            <a:off x="2862451" y="2214554"/>
            <a:ext cx="1284349" cy="71438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Forma"/>
          <p:cNvCxnSpPr>
            <a:stCxn id="4" idx="3"/>
            <a:endCxn id="8" idx="0"/>
          </p:cNvCxnSpPr>
          <p:nvPr/>
        </p:nvCxnSpPr>
        <p:spPr>
          <a:xfrm>
            <a:off x="5504121" y="2214554"/>
            <a:ext cx="1321603" cy="71438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angular"/>
          <p:cNvCxnSpPr>
            <a:stCxn id="6" idx="2"/>
            <a:endCxn id="10" idx="0"/>
          </p:cNvCxnSpPr>
          <p:nvPr/>
        </p:nvCxnSpPr>
        <p:spPr>
          <a:xfrm rot="5400000">
            <a:off x="1861551" y="3213919"/>
            <a:ext cx="571504" cy="1430295"/>
          </a:xfrm>
          <a:prstGeom prst="bentConnector3">
            <a:avLst>
              <a:gd name="adj1" fmla="val 50000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angular"/>
          <p:cNvCxnSpPr>
            <a:stCxn id="6" idx="2"/>
            <a:endCxn id="11" idx="0"/>
          </p:cNvCxnSpPr>
          <p:nvPr/>
        </p:nvCxnSpPr>
        <p:spPr>
          <a:xfrm rot="5400000">
            <a:off x="2575931" y="3928299"/>
            <a:ext cx="571504" cy="1535"/>
          </a:xfrm>
          <a:prstGeom prst="bentConnector3">
            <a:avLst>
              <a:gd name="adj1" fmla="val 50000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angular"/>
          <p:cNvCxnSpPr>
            <a:stCxn id="6" idx="2"/>
            <a:endCxn id="12" idx="0"/>
          </p:cNvCxnSpPr>
          <p:nvPr/>
        </p:nvCxnSpPr>
        <p:spPr>
          <a:xfrm rot="16200000" flipH="1">
            <a:off x="3290310" y="3215453"/>
            <a:ext cx="571504" cy="1427225"/>
          </a:xfrm>
          <a:prstGeom prst="bentConnector3">
            <a:avLst>
              <a:gd name="adj1" fmla="val 50000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angular"/>
          <p:cNvCxnSpPr>
            <a:stCxn id="8" idx="2"/>
            <a:endCxn id="13" idx="0"/>
          </p:cNvCxnSpPr>
          <p:nvPr/>
        </p:nvCxnSpPr>
        <p:spPr>
          <a:xfrm rot="5400000">
            <a:off x="6164923" y="3554017"/>
            <a:ext cx="571504" cy="750099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angular"/>
          <p:cNvCxnSpPr>
            <a:stCxn id="8" idx="2"/>
            <a:endCxn id="14" idx="0"/>
          </p:cNvCxnSpPr>
          <p:nvPr/>
        </p:nvCxnSpPr>
        <p:spPr>
          <a:xfrm rot="16200000" flipH="1">
            <a:off x="6950740" y="3518297"/>
            <a:ext cx="571504" cy="821537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28 Rectángulo redondeado"/>
          <p:cNvSpPr/>
          <p:nvPr/>
        </p:nvSpPr>
        <p:spPr>
          <a:xfrm>
            <a:off x="789213" y="5143512"/>
            <a:ext cx="1285884" cy="642942"/>
          </a:xfrm>
          <a:prstGeom prst="round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Emplea estructuras de control</a:t>
            </a:r>
            <a:endParaRPr lang="es-MX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0" name="29 Rectángulo redondeado"/>
          <p:cNvSpPr/>
          <p:nvPr/>
        </p:nvSpPr>
        <p:spPr>
          <a:xfrm>
            <a:off x="2217973" y="5143512"/>
            <a:ext cx="1285884" cy="642942"/>
          </a:xfrm>
          <a:prstGeom prst="round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Emplea módulos o subprogramas</a:t>
            </a:r>
            <a:endParaRPr lang="es-MX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30 Rectángulo redondeado"/>
          <p:cNvSpPr/>
          <p:nvPr/>
        </p:nvSpPr>
        <p:spPr>
          <a:xfrm>
            <a:off x="3646733" y="5143512"/>
            <a:ext cx="1285884" cy="642942"/>
          </a:xfrm>
          <a:prstGeom prst="round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Emplea clases y objetos</a:t>
            </a:r>
            <a:endParaRPr lang="es-MX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2" name="31 Rectángulo redondeado"/>
          <p:cNvSpPr/>
          <p:nvPr/>
        </p:nvSpPr>
        <p:spPr>
          <a:xfrm>
            <a:off x="5432683" y="5143512"/>
            <a:ext cx="1285884" cy="642942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Emplea funciones como elementos de primer orden</a:t>
            </a:r>
            <a:endParaRPr lang="es-MX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32 Rectángulo redondeado"/>
          <p:cNvSpPr/>
          <p:nvPr/>
        </p:nvSpPr>
        <p:spPr>
          <a:xfrm>
            <a:off x="7004319" y="5143512"/>
            <a:ext cx="1285884" cy="642942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Emplea hechos y lógica de predicados</a:t>
            </a:r>
            <a:endParaRPr lang="es-MX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5" name="34 Conector recto"/>
          <p:cNvCxnSpPr>
            <a:stCxn id="10" idx="2"/>
            <a:endCxn id="29" idx="0"/>
          </p:cNvCxnSpPr>
          <p:nvPr/>
        </p:nvCxnSpPr>
        <p:spPr>
          <a:xfrm rot="5400000">
            <a:off x="1324998" y="5036355"/>
            <a:ext cx="214314" cy="1588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"/>
          <p:cNvCxnSpPr>
            <a:stCxn id="11" idx="2"/>
            <a:endCxn id="30" idx="0"/>
          </p:cNvCxnSpPr>
          <p:nvPr/>
        </p:nvCxnSpPr>
        <p:spPr>
          <a:xfrm rot="5400000">
            <a:off x="2753758" y="5036355"/>
            <a:ext cx="214314" cy="1588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>
            <a:stCxn id="12" idx="2"/>
            <a:endCxn id="31" idx="0"/>
          </p:cNvCxnSpPr>
          <p:nvPr/>
        </p:nvCxnSpPr>
        <p:spPr>
          <a:xfrm rot="5400000">
            <a:off x="4182518" y="5036355"/>
            <a:ext cx="214314" cy="1588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"/>
          <p:cNvCxnSpPr>
            <a:stCxn id="13" idx="2"/>
            <a:endCxn id="32" idx="0"/>
          </p:cNvCxnSpPr>
          <p:nvPr/>
        </p:nvCxnSpPr>
        <p:spPr>
          <a:xfrm rot="5400000">
            <a:off x="5968468" y="5036355"/>
            <a:ext cx="214314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"/>
          <p:cNvCxnSpPr>
            <a:stCxn id="14" idx="2"/>
            <a:endCxn id="33" idx="0"/>
          </p:cNvCxnSpPr>
          <p:nvPr/>
        </p:nvCxnSpPr>
        <p:spPr>
          <a:xfrm rot="5400000">
            <a:off x="7540104" y="5036355"/>
            <a:ext cx="214314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46 Abrir llave"/>
          <p:cNvSpPr/>
          <p:nvPr/>
        </p:nvSpPr>
        <p:spPr>
          <a:xfrm>
            <a:off x="1717907" y="2643182"/>
            <a:ext cx="357190" cy="114300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9" name="48 Conector recto"/>
          <p:cNvCxnSpPr/>
          <p:nvPr/>
        </p:nvCxnSpPr>
        <p:spPr>
          <a:xfrm>
            <a:off x="2075097" y="2643182"/>
            <a:ext cx="6286544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"/>
          <p:cNvCxnSpPr/>
          <p:nvPr/>
        </p:nvCxnSpPr>
        <p:spPr>
          <a:xfrm>
            <a:off x="2003659" y="3784602"/>
            <a:ext cx="6286544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50 CuadroTexto"/>
          <p:cNvSpPr txBox="1"/>
          <p:nvPr/>
        </p:nvSpPr>
        <p:spPr>
          <a:xfrm>
            <a:off x="500034" y="2928934"/>
            <a:ext cx="14321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600" dirty="0" smtClean="0"/>
              <a:t>Paradigmas</a:t>
            </a:r>
          </a:p>
          <a:p>
            <a:r>
              <a:rPr lang="es-MX" sz="1600" dirty="0" smtClean="0"/>
              <a:t>fundamentales</a:t>
            </a:r>
            <a:endParaRPr lang="es-MX" sz="1600" dirty="0"/>
          </a:p>
        </p:txBody>
      </p:sp>
      <p:sp>
        <p:nvSpPr>
          <p:cNvPr id="56" name="55 Rectángulo redondeado"/>
          <p:cNvSpPr/>
          <p:nvPr/>
        </p:nvSpPr>
        <p:spPr>
          <a:xfrm>
            <a:off x="3643306" y="2963118"/>
            <a:ext cx="1071570" cy="642942"/>
          </a:xfrm>
          <a:prstGeom prst="round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Emplea Asignaciones y Sentencias</a:t>
            </a:r>
            <a:endParaRPr lang="es-MX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8" name="57 Rectángulo redondeado"/>
          <p:cNvSpPr/>
          <p:nvPr/>
        </p:nvSpPr>
        <p:spPr>
          <a:xfrm>
            <a:off x="7647261" y="2963118"/>
            <a:ext cx="1071570" cy="642942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Emplea Propiedades y Reglas</a:t>
            </a:r>
            <a:endParaRPr lang="es-MX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64" name="63 Conector recto"/>
          <p:cNvCxnSpPr>
            <a:stCxn id="6" idx="3"/>
            <a:endCxn id="56" idx="1"/>
          </p:cNvCxnSpPr>
          <p:nvPr/>
        </p:nvCxnSpPr>
        <p:spPr>
          <a:xfrm flipV="1">
            <a:off x="3541111" y="3284589"/>
            <a:ext cx="102195" cy="15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"/>
          <p:cNvCxnSpPr>
            <a:stCxn id="58" idx="1"/>
            <a:endCxn id="8" idx="3"/>
          </p:cNvCxnSpPr>
          <p:nvPr/>
        </p:nvCxnSpPr>
        <p:spPr>
          <a:xfrm rot="10800000" flipV="1">
            <a:off x="7504385" y="3284588"/>
            <a:ext cx="142876" cy="15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Paradigmas de programación … (4)</a:t>
            </a:r>
            <a:endParaRPr lang="es-MX" sz="4000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1928802"/>
            <a:ext cx="7143800" cy="3989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4 CuadroTexto"/>
          <p:cNvSpPr txBox="1"/>
          <p:nvPr/>
        </p:nvSpPr>
        <p:spPr>
          <a:xfrm>
            <a:off x="6643702" y="5929330"/>
            <a:ext cx="1268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(Vaca R. C., 2011)</a:t>
            </a:r>
            <a:endParaRPr lang="es-MX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1142976" y="1857364"/>
            <a:ext cx="3000396" cy="4071966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6 CuadroTexto"/>
          <p:cNvSpPr txBox="1"/>
          <p:nvPr/>
        </p:nvSpPr>
        <p:spPr>
          <a:xfrm>
            <a:off x="1428728" y="1500174"/>
            <a:ext cx="2276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Programa de cómputo</a:t>
            </a:r>
            <a:endParaRPr lang="es-MX" dirty="0"/>
          </a:p>
        </p:txBody>
      </p:sp>
      <p:sp>
        <p:nvSpPr>
          <p:cNvPr id="8" name="7 Rectángulo"/>
          <p:cNvSpPr/>
          <p:nvPr/>
        </p:nvSpPr>
        <p:spPr>
          <a:xfrm>
            <a:off x="4197718" y="1857364"/>
            <a:ext cx="4017620" cy="4071966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8 CuadroTexto"/>
          <p:cNvSpPr txBox="1"/>
          <p:nvPr/>
        </p:nvSpPr>
        <p:spPr>
          <a:xfrm>
            <a:off x="4857752" y="1500174"/>
            <a:ext cx="2910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Paradigmas de programación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Paradigmas de programación … (5)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71544"/>
          </a:xfrm>
        </p:spPr>
        <p:txBody>
          <a:bodyPr>
            <a:normAutofit/>
          </a:bodyPr>
          <a:lstStyle/>
          <a:p>
            <a:r>
              <a:rPr lang="es-MX" sz="2800" dirty="0" smtClean="0"/>
              <a:t>La evolución de los lenguajes ha permitido emplearlos bajo distintos paradigmas, por ejemplo:</a:t>
            </a:r>
            <a:endParaRPr lang="es-MX" sz="2800" dirty="0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46" y="2786058"/>
            <a:ext cx="2525656" cy="2143140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ffectLst/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14678" y="3286124"/>
            <a:ext cx="2693212" cy="1857388"/>
          </a:xfrm>
          <a:prstGeom prst="rect">
            <a:avLst/>
          </a:prstGeom>
          <a:noFill/>
          <a:ln w="9525">
            <a:solidFill>
              <a:srgbClr val="FFC000"/>
            </a:solidFill>
            <a:miter lim="800000"/>
            <a:headEnd/>
            <a:tailEnd/>
          </a:ln>
          <a:effectLst/>
        </p:spPr>
      </p:pic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00760" y="3793040"/>
            <a:ext cx="2944819" cy="2850670"/>
          </a:xfrm>
          <a:prstGeom prst="rect">
            <a:avLst/>
          </a:prstGeom>
          <a:noFill/>
          <a:ln w="9525">
            <a:solidFill>
              <a:srgbClr val="92D050"/>
            </a:solidFill>
            <a:miter lim="800000"/>
            <a:headEnd/>
            <a:tailEnd/>
          </a:ln>
          <a:effectLst/>
        </p:spPr>
      </p:pic>
      <p:sp>
        <p:nvSpPr>
          <p:cNvPr id="9" name="8 CuadroTexto"/>
          <p:cNvSpPr txBox="1"/>
          <p:nvPr/>
        </p:nvSpPr>
        <p:spPr>
          <a:xfrm>
            <a:off x="5893057" y="3519074"/>
            <a:ext cx="1393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 smtClean="0"/>
              <a:t>Procedimental</a:t>
            </a:r>
            <a:endParaRPr lang="es-MX" sz="1600" dirty="0"/>
          </a:p>
        </p:txBody>
      </p:sp>
      <p:sp>
        <p:nvSpPr>
          <p:cNvPr id="10" name="9 CuadroTexto"/>
          <p:cNvSpPr txBox="1"/>
          <p:nvPr/>
        </p:nvSpPr>
        <p:spPr>
          <a:xfrm>
            <a:off x="3100739" y="3019008"/>
            <a:ext cx="12569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 smtClean="0"/>
              <a:t>Estructurado</a:t>
            </a:r>
            <a:endParaRPr lang="es-MX" sz="1600" dirty="0"/>
          </a:p>
        </p:txBody>
      </p:sp>
      <p:sp>
        <p:nvSpPr>
          <p:cNvPr id="11" name="10 CuadroTexto"/>
          <p:cNvSpPr txBox="1"/>
          <p:nvPr/>
        </p:nvSpPr>
        <p:spPr>
          <a:xfrm>
            <a:off x="428596" y="2500306"/>
            <a:ext cx="10886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 smtClean="0"/>
              <a:t>Imperativo</a:t>
            </a:r>
            <a:endParaRPr lang="es-MX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Paradigmas de programación … (6)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71544"/>
          </a:xfrm>
        </p:spPr>
        <p:txBody>
          <a:bodyPr>
            <a:normAutofit/>
          </a:bodyPr>
          <a:lstStyle/>
          <a:p>
            <a:r>
              <a:rPr lang="es-MX" sz="2800" dirty="0" smtClean="0"/>
              <a:t>Los códigos de los lenguajes declarativos se ven y son muy diferentes a los imperativos.</a:t>
            </a:r>
            <a:endParaRPr lang="es-MX" sz="2800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3143248"/>
            <a:ext cx="3788460" cy="1214446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27614" y="4786322"/>
            <a:ext cx="3897306" cy="1552075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ffectLst/>
        </p:spPr>
      </p:pic>
      <p:sp>
        <p:nvSpPr>
          <p:cNvPr id="12" name="11 CuadroTexto"/>
          <p:cNvSpPr txBox="1"/>
          <p:nvPr/>
        </p:nvSpPr>
        <p:spPr>
          <a:xfrm>
            <a:off x="857224" y="2804694"/>
            <a:ext cx="987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 smtClean="0"/>
              <a:t>Funcional</a:t>
            </a:r>
            <a:endParaRPr lang="es-MX" sz="1600" dirty="0"/>
          </a:p>
        </p:txBody>
      </p:sp>
      <p:sp>
        <p:nvSpPr>
          <p:cNvPr id="13" name="12 CuadroTexto"/>
          <p:cNvSpPr txBox="1"/>
          <p:nvPr/>
        </p:nvSpPr>
        <p:spPr>
          <a:xfrm>
            <a:off x="4857752" y="4447768"/>
            <a:ext cx="7167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 smtClean="0"/>
              <a:t>Lógico</a:t>
            </a:r>
            <a:endParaRPr lang="es-MX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Paradigmas de programación … </a:t>
            </a:r>
            <a:r>
              <a:rPr lang="es-MX" sz="4000" dirty="0" smtClean="0"/>
              <a:t>(7)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MX" dirty="0" smtClean="0"/>
              <a:t>Paradigma Imperativo</a:t>
            </a:r>
          </a:p>
          <a:p>
            <a:pPr lvl="1"/>
            <a:r>
              <a:rPr lang="es-MX" dirty="0" smtClean="0"/>
              <a:t>Se describe cómo debe realizarse el cálculo, más no el porqué.</a:t>
            </a:r>
          </a:p>
          <a:p>
            <a:pPr lvl="1"/>
            <a:r>
              <a:rPr lang="es-MX" dirty="0" smtClean="0"/>
              <a:t>Surge a partir del funcionamiento del hardware de la computadora convencional que ejecuta instrucciones de forma secuencial.</a:t>
            </a:r>
          </a:p>
          <a:p>
            <a:pPr lvl="1"/>
            <a:r>
              <a:rPr lang="es-MX" dirty="0" smtClean="0"/>
              <a:t>El código (cómputo) consiste de una serie de sentencias ejecutadas según un control de flujo explícito, que van modificando el estado del programa (variables).</a:t>
            </a:r>
          </a:p>
          <a:p>
            <a:pPr lvl="1"/>
            <a:r>
              <a:rPr lang="es-MX" dirty="0" smtClean="0"/>
              <a:t>Las variables son celdas de memoria que contienen los datos a modificar y representan el estado del programa.</a:t>
            </a:r>
          </a:p>
          <a:p>
            <a:pPr lvl="1"/>
            <a:r>
              <a:rPr lang="es-MX" dirty="0" smtClean="0"/>
              <a:t>La sentencia básica es la asignación.</a:t>
            </a:r>
          </a:p>
          <a:p>
            <a:pPr lvl="1"/>
            <a:r>
              <a:rPr lang="es-MX" dirty="0" smtClean="0"/>
              <a:t>Paradigmas derivados</a:t>
            </a:r>
          </a:p>
          <a:p>
            <a:pPr lvl="2"/>
            <a:r>
              <a:rPr lang="es-MX" dirty="0" smtClean="0"/>
              <a:t>Programación </a:t>
            </a:r>
            <a:r>
              <a:rPr lang="es-MX" dirty="0" err="1" smtClean="0"/>
              <a:t>procedural</a:t>
            </a:r>
            <a:r>
              <a:rPr lang="es-MX" dirty="0" smtClean="0"/>
              <a:t>, modular y la estructurada</a:t>
            </a:r>
          </a:p>
          <a:p>
            <a:pPr lvl="1"/>
            <a:r>
              <a:rPr lang="es-MX" dirty="0" smtClean="0"/>
              <a:t>Lenguajes representativos</a:t>
            </a:r>
          </a:p>
          <a:p>
            <a:pPr lvl="2"/>
            <a:r>
              <a:rPr lang="es-MX" dirty="0" smtClean="0"/>
              <a:t>Fortran-77, Basic, Pascal, C … </a:t>
            </a:r>
          </a:p>
          <a:p>
            <a:pPr lvl="2"/>
            <a:r>
              <a:rPr lang="es-MX" dirty="0" smtClean="0"/>
              <a:t>También lo implementan:</a:t>
            </a:r>
          </a:p>
          <a:p>
            <a:pPr lvl="3"/>
            <a:r>
              <a:rPr lang="es-MX" dirty="0" smtClean="0"/>
              <a:t>Java, C++, C#, </a:t>
            </a:r>
            <a:r>
              <a:rPr lang="es-MX" dirty="0" err="1" smtClean="0"/>
              <a:t>Effel</a:t>
            </a:r>
            <a:r>
              <a:rPr lang="es-MX" dirty="0" smtClean="0"/>
              <a:t>, </a:t>
            </a:r>
            <a:r>
              <a:rPr lang="es-MX" dirty="0" err="1" smtClean="0"/>
              <a:t>Python</a:t>
            </a:r>
            <a:r>
              <a:rPr lang="es-MX" dirty="0" smtClean="0"/>
              <a:t> …</a:t>
            </a:r>
            <a:endParaRPr lang="es-MX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Paradigmas de programación … </a:t>
            </a:r>
            <a:r>
              <a:rPr lang="es-MX" sz="4000" dirty="0" smtClean="0"/>
              <a:t>(8)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MX" dirty="0" smtClean="0"/>
              <a:t>Paradigma Declarativo</a:t>
            </a:r>
          </a:p>
          <a:p>
            <a:pPr lvl="1"/>
            <a:r>
              <a:rPr lang="es-MX" dirty="0" smtClean="0"/>
              <a:t>Describe el qué se debe calcular, sin explicar el cómo.</a:t>
            </a:r>
          </a:p>
          <a:p>
            <a:pPr lvl="1"/>
            <a:r>
              <a:rPr lang="es-MX" dirty="0" smtClean="0"/>
              <a:t>No existe un orden de evaluación prefijado.</a:t>
            </a:r>
          </a:p>
          <a:p>
            <a:pPr lvl="1"/>
            <a:r>
              <a:rPr lang="es-MX" dirty="0" smtClean="0"/>
              <a:t>No existe la sentencia de asignación como tal.</a:t>
            </a:r>
          </a:p>
          <a:p>
            <a:pPr lvl="1"/>
            <a:r>
              <a:rPr lang="es-MX" dirty="0" smtClean="0"/>
              <a:t>Las variables son nombres asociados a definiciones, y una vez instanciadas son inmutables.</a:t>
            </a:r>
          </a:p>
          <a:p>
            <a:pPr lvl="1"/>
            <a:r>
              <a:rPr lang="es-MX" dirty="0" smtClean="0"/>
              <a:t>El control de flujo suele estar asociado a la composición funcional, la recursividad y/o técnicas de </a:t>
            </a:r>
            <a:r>
              <a:rPr lang="es-MX" dirty="0" err="1" smtClean="0"/>
              <a:t>reescritrura</a:t>
            </a:r>
            <a:r>
              <a:rPr lang="es-MX" dirty="0" smtClean="0"/>
              <a:t> y unificación.</a:t>
            </a:r>
          </a:p>
          <a:p>
            <a:pPr lvl="2"/>
            <a:r>
              <a:rPr lang="es-MX" dirty="0" smtClean="0"/>
              <a:t>Existen distintos grados de pureza en las variantes del paradigma.</a:t>
            </a:r>
          </a:p>
          <a:p>
            <a:pPr lvl="2"/>
            <a:r>
              <a:rPr lang="es-MX" dirty="0" smtClean="0"/>
              <a:t>Las principales variantes son los paradigmas funcional y lógico, pero hay otros.</a:t>
            </a:r>
            <a:endParaRPr lang="es-MX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Paradigmas de programación … </a:t>
            </a:r>
            <a:r>
              <a:rPr lang="es-MX" sz="4000" dirty="0" smtClean="0"/>
              <a:t>(9)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MX" dirty="0" smtClean="0"/>
              <a:t>Tarea:</a:t>
            </a:r>
          </a:p>
          <a:p>
            <a:pPr lvl="1"/>
            <a:r>
              <a:rPr lang="es-MX" dirty="0" smtClean="0"/>
              <a:t>Investigar </a:t>
            </a:r>
            <a:r>
              <a:rPr lang="es-MX" dirty="0" smtClean="0"/>
              <a:t>las principales características de los siguientes </a:t>
            </a:r>
            <a:r>
              <a:rPr lang="es-MX" dirty="0" smtClean="0"/>
              <a:t>paradigmas de </a:t>
            </a:r>
            <a:r>
              <a:rPr lang="es-MX" dirty="0" smtClean="0"/>
              <a:t>programación:</a:t>
            </a:r>
            <a:endParaRPr lang="es-MX" dirty="0" smtClean="0"/>
          </a:p>
          <a:p>
            <a:pPr lvl="2"/>
            <a:r>
              <a:rPr lang="es-MX" dirty="0" smtClean="0"/>
              <a:t>Programación estructurada</a:t>
            </a:r>
          </a:p>
          <a:p>
            <a:pPr lvl="2"/>
            <a:r>
              <a:rPr lang="es-MX" dirty="0" smtClean="0"/>
              <a:t>Programación procedimental</a:t>
            </a:r>
          </a:p>
          <a:p>
            <a:pPr lvl="2"/>
            <a:r>
              <a:rPr lang="es-MX" dirty="0" smtClean="0"/>
              <a:t>Programación modular</a:t>
            </a:r>
            <a:endParaRPr lang="es-MX" dirty="0" smtClean="0"/>
          </a:p>
          <a:p>
            <a:pPr lvl="2"/>
            <a:r>
              <a:rPr lang="es-MX" dirty="0" smtClean="0"/>
              <a:t>Programación dirigida por </a:t>
            </a:r>
            <a:r>
              <a:rPr lang="es-MX" dirty="0" smtClean="0"/>
              <a:t>eventos</a:t>
            </a:r>
          </a:p>
          <a:p>
            <a:pPr lvl="2"/>
            <a:r>
              <a:rPr lang="es-MX" dirty="0" smtClean="0"/>
              <a:t>Programación lógica</a:t>
            </a:r>
          </a:p>
          <a:p>
            <a:pPr lvl="2"/>
            <a:r>
              <a:rPr lang="es-MX" dirty="0" smtClean="0"/>
              <a:t>Programación funcional</a:t>
            </a:r>
            <a:endParaRPr lang="es-MX" dirty="0" smtClean="0"/>
          </a:p>
          <a:p>
            <a:pPr lvl="2"/>
            <a:r>
              <a:rPr lang="es-MX" dirty="0" smtClean="0"/>
              <a:t>Programación con restricciones</a:t>
            </a:r>
          </a:p>
          <a:p>
            <a:pPr lvl="2"/>
            <a:r>
              <a:rPr lang="es-MX" dirty="0" smtClean="0"/>
              <a:t>Programación reactiva</a:t>
            </a:r>
          </a:p>
          <a:p>
            <a:pPr lvl="2"/>
            <a:r>
              <a:rPr lang="es-MX" dirty="0" smtClean="0"/>
              <a:t>Programación genérica</a:t>
            </a:r>
          </a:p>
          <a:p>
            <a:pPr lvl="2"/>
            <a:r>
              <a:rPr lang="es-MX" dirty="0" smtClean="0"/>
              <a:t>Programación orientada a componentes</a:t>
            </a:r>
          </a:p>
          <a:p>
            <a:pPr lvl="2"/>
            <a:r>
              <a:rPr lang="es-MX" dirty="0" smtClean="0"/>
              <a:t>Programación orientada a aspectos</a:t>
            </a:r>
          </a:p>
          <a:p>
            <a:pPr lvl="2"/>
            <a:r>
              <a:rPr lang="es-MX" dirty="0" smtClean="0"/>
              <a:t>Programación concurrente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El Paradigma Orientado a Objetos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4614866" cy="4614882"/>
          </a:xfrm>
        </p:spPr>
        <p:txBody>
          <a:bodyPr>
            <a:normAutofit fontScale="70000" lnSpcReduction="20000"/>
          </a:bodyPr>
          <a:lstStyle/>
          <a:p>
            <a:r>
              <a:rPr lang="es-MX" dirty="0" smtClean="0"/>
              <a:t>Define una estructura de alto nivel llamada Objeto, la cual ofrece ventajas sobre la programación tradicional </a:t>
            </a:r>
            <a:r>
              <a:rPr lang="es-MX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s-MX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Weitzenfeld</a:t>
            </a:r>
            <a:r>
              <a:rPr lang="es-MX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2004):</a:t>
            </a:r>
          </a:p>
          <a:p>
            <a:pPr lvl="1"/>
            <a:r>
              <a:rPr lang="es-MX" dirty="0" smtClean="0"/>
              <a:t>Permite al programador organizar su programa de acuerdo con abstracciones de más alto nivel, siendo estas más cercanas a la manera de pensar de las personas.</a:t>
            </a:r>
          </a:p>
          <a:p>
            <a:pPr lvl="1"/>
            <a:r>
              <a:rPr lang="es-MX" dirty="0" smtClean="0"/>
              <a:t>Los datos globales desaparecen, siendo éstos con las funciones parte interna de los objetos. Esto evita los “daños colaterales” en el código.</a:t>
            </a:r>
          </a:p>
          <a:p>
            <a:r>
              <a:rPr lang="es-MX" dirty="0" smtClean="0"/>
              <a:t>La base conceptual son los objetos.</a:t>
            </a:r>
            <a:endParaRPr lang="es-MX" dirty="0"/>
          </a:p>
        </p:txBody>
      </p:sp>
      <p:sp>
        <p:nvSpPr>
          <p:cNvPr id="6" name="5 Rectángulo"/>
          <p:cNvSpPr/>
          <p:nvPr/>
        </p:nvSpPr>
        <p:spPr>
          <a:xfrm>
            <a:off x="5357818" y="2071678"/>
            <a:ext cx="552456" cy="2667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 smtClean="0"/>
              <a:t>Datos</a:t>
            </a:r>
            <a:endParaRPr lang="es-MX" sz="1000" dirty="0"/>
          </a:p>
        </p:txBody>
      </p:sp>
      <p:sp>
        <p:nvSpPr>
          <p:cNvPr id="7" name="6 Rectángulo"/>
          <p:cNvSpPr/>
          <p:nvPr/>
        </p:nvSpPr>
        <p:spPr>
          <a:xfrm>
            <a:off x="5429256" y="2143116"/>
            <a:ext cx="552456" cy="2667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 smtClean="0"/>
              <a:t>Datos</a:t>
            </a:r>
            <a:endParaRPr lang="es-MX" sz="1000" dirty="0"/>
          </a:p>
        </p:txBody>
      </p:sp>
      <p:sp>
        <p:nvSpPr>
          <p:cNvPr id="8" name="7 Rectángulo"/>
          <p:cNvSpPr/>
          <p:nvPr/>
        </p:nvSpPr>
        <p:spPr>
          <a:xfrm>
            <a:off x="5500694" y="2233602"/>
            <a:ext cx="552456" cy="2667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 smtClean="0"/>
              <a:t>Datos</a:t>
            </a:r>
            <a:endParaRPr lang="es-MX" sz="1000" dirty="0"/>
          </a:p>
        </p:txBody>
      </p:sp>
      <p:sp>
        <p:nvSpPr>
          <p:cNvPr id="9" name="8 Elipse"/>
          <p:cNvSpPr/>
          <p:nvPr/>
        </p:nvSpPr>
        <p:spPr>
          <a:xfrm>
            <a:off x="5072066" y="2928934"/>
            <a:ext cx="1000132" cy="3571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 smtClean="0"/>
              <a:t>Funciones</a:t>
            </a:r>
            <a:endParaRPr lang="es-MX" sz="1000" dirty="0"/>
          </a:p>
        </p:txBody>
      </p:sp>
      <p:sp>
        <p:nvSpPr>
          <p:cNvPr id="10" name="9 Elipse"/>
          <p:cNvSpPr/>
          <p:nvPr/>
        </p:nvSpPr>
        <p:spPr>
          <a:xfrm>
            <a:off x="5214942" y="3000372"/>
            <a:ext cx="1000132" cy="3571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 smtClean="0"/>
              <a:t>Funciones</a:t>
            </a:r>
            <a:endParaRPr lang="es-MX" sz="1000" dirty="0"/>
          </a:p>
        </p:txBody>
      </p:sp>
      <p:sp>
        <p:nvSpPr>
          <p:cNvPr id="11" name="10 Elipse"/>
          <p:cNvSpPr/>
          <p:nvPr/>
        </p:nvSpPr>
        <p:spPr>
          <a:xfrm>
            <a:off x="5412164" y="3063264"/>
            <a:ext cx="1000132" cy="3571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 smtClean="0"/>
              <a:t>Funciones</a:t>
            </a:r>
            <a:endParaRPr lang="es-MX" sz="1000" dirty="0"/>
          </a:p>
        </p:txBody>
      </p:sp>
      <p:cxnSp>
        <p:nvCxnSpPr>
          <p:cNvPr id="13" name="12 Conector recto de flecha"/>
          <p:cNvCxnSpPr/>
          <p:nvPr/>
        </p:nvCxnSpPr>
        <p:spPr>
          <a:xfrm rot="5400000">
            <a:off x="5322099" y="2607463"/>
            <a:ext cx="285752" cy="214314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 de flecha"/>
          <p:cNvCxnSpPr/>
          <p:nvPr/>
        </p:nvCxnSpPr>
        <p:spPr>
          <a:xfrm rot="5400000">
            <a:off x="5501488" y="2713826"/>
            <a:ext cx="285752" cy="1588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 de flecha"/>
          <p:cNvCxnSpPr/>
          <p:nvPr/>
        </p:nvCxnSpPr>
        <p:spPr>
          <a:xfrm rot="16200000" flipH="1">
            <a:off x="5684845" y="2684457"/>
            <a:ext cx="285752" cy="60326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 de flecha"/>
          <p:cNvCxnSpPr/>
          <p:nvPr/>
        </p:nvCxnSpPr>
        <p:spPr>
          <a:xfrm rot="16200000" flipH="1">
            <a:off x="5868202" y="2653500"/>
            <a:ext cx="357190" cy="193678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19 CuadroTexto"/>
          <p:cNvSpPr txBox="1"/>
          <p:nvPr/>
        </p:nvSpPr>
        <p:spPr>
          <a:xfrm>
            <a:off x="5239773" y="3754283"/>
            <a:ext cx="34756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 smtClean="0"/>
              <a:t>Programación tradicional v/s Programación orientada a objetos</a:t>
            </a:r>
            <a:endParaRPr lang="es-MX" sz="1000" dirty="0"/>
          </a:p>
        </p:txBody>
      </p:sp>
      <p:sp>
        <p:nvSpPr>
          <p:cNvPr id="21" name="20 Elipse"/>
          <p:cNvSpPr/>
          <p:nvPr/>
        </p:nvSpPr>
        <p:spPr>
          <a:xfrm>
            <a:off x="6858016" y="1857364"/>
            <a:ext cx="785818" cy="7143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 smtClean="0"/>
              <a:t>Objeto</a:t>
            </a:r>
            <a:endParaRPr lang="es-MX" sz="1000" dirty="0"/>
          </a:p>
        </p:txBody>
      </p:sp>
      <p:sp>
        <p:nvSpPr>
          <p:cNvPr id="22" name="21 Elipse"/>
          <p:cNvSpPr/>
          <p:nvPr/>
        </p:nvSpPr>
        <p:spPr>
          <a:xfrm>
            <a:off x="7786710" y="2428868"/>
            <a:ext cx="785818" cy="7143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 smtClean="0"/>
              <a:t>Objeto</a:t>
            </a:r>
            <a:endParaRPr lang="es-MX" sz="1000" dirty="0"/>
          </a:p>
        </p:txBody>
      </p:sp>
      <p:sp>
        <p:nvSpPr>
          <p:cNvPr id="23" name="22 Elipse"/>
          <p:cNvSpPr/>
          <p:nvPr/>
        </p:nvSpPr>
        <p:spPr>
          <a:xfrm>
            <a:off x="6858016" y="2928934"/>
            <a:ext cx="785818" cy="7143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 smtClean="0"/>
              <a:t>Objeto</a:t>
            </a:r>
            <a:endParaRPr lang="es-MX" sz="1000" dirty="0"/>
          </a:p>
        </p:txBody>
      </p:sp>
      <p:cxnSp>
        <p:nvCxnSpPr>
          <p:cNvPr id="24" name="23 Conector recto de flecha"/>
          <p:cNvCxnSpPr/>
          <p:nvPr/>
        </p:nvCxnSpPr>
        <p:spPr>
          <a:xfrm rot="16200000" flipH="1">
            <a:off x="7089396" y="2742866"/>
            <a:ext cx="285752" cy="34131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 de flecha"/>
          <p:cNvCxnSpPr/>
          <p:nvPr/>
        </p:nvCxnSpPr>
        <p:spPr>
          <a:xfrm rot="16200000" flipH="1">
            <a:off x="7689145" y="2294701"/>
            <a:ext cx="214314" cy="214314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 de flecha"/>
          <p:cNvCxnSpPr/>
          <p:nvPr/>
        </p:nvCxnSpPr>
        <p:spPr>
          <a:xfrm rot="10800000" flipV="1">
            <a:off x="7689145" y="3108412"/>
            <a:ext cx="214314" cy="142876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34 Grupo"/>
          <p:cNvGrpSpPr/>
          <p:nvPr/>
        </p:nvGrpSpPr>
        <p:grpSpPr>
          <a:xfrm>
            <a:off x="6091382" y="4429132"/>
            <a:ext cx="1643074" cy="1571636"/>
            <a:chOff x="6091382" y="4190457"/>
            <a:chExt cx="1643074" cy="1571636"/>
          </a:xfrm>
        </p:grpSpPr>
        <p:sp>
          <p:nvSpPr>
            <p:cNvPr id="33" name="32 Elipse"/>
            <p:cNvSpPr/>
            <p:nvPr/>
          </p:nvSpPr>
          <p:spPr>
            <a:xfrm>
              <a:off x="6091382" y="4190457"/>
              <a:ext cx="1643074" cy="15716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1000" dirty="0" smtClean="0"/>
            </a:p>
            <a:p>
              <a:pPr algn="ctr"/>
              <a:r>
                <a:rPr lang="es-MX" sz="1000" dirty="0" smtClean="0"/>
                <a:t>Funciones</a:t>
              </a:r>
            </a:p>
            <a:p>
              <a:pPr algn="ctr"/>
              <a:endParaRPr lang="es-MX" sz="1000" dirty="0" smtClean="0"/>
            </a:p>
            <a:p>
              <a:pPr algn="ctr"/>
              <a:endParaRPr lang="es-MX" sz="1000" dirty="0" smtClean="0"/>
            </a:p>
            <a:p>
              <a:pPr algn="ctr"/>
              <a:endParaRPr lang="es-MX" sz="1000" dirty="0" smtClean="0"/>
            </a:p>
            <a:p>
              <a:pPr algn="ctr"/>
              <a:endParaRPr lang="es-MX" sz="1000" dirty="0" smtClean="0"/>
            </a:p>
            <a:p>
              <a:pPr algn="ctr"/>
              <a:endParaRPr lang="es-MX" sz="1000" dirty="0" smtClean="0"/>
            </a:p>
            <a:p>
              <a:pPr algn="ctr"/>
              <a:endParaRPr lang="es-MX" sz="1000" dirty="0" smtClean="0"/>
            </a:p>
            <a:p>
              <a:pPr algn="ctr"/>
              <a:endParaRPr lang="es-MX" sz="1000" dirty="0"/>
            </a:p>
          </p:txBody>
        </p:sp>
        <p:sp>
          <p:nvSpPr>
            <p:cNvPr id="32" name="31 Elipse"/>
            <p:cNvSpPr/>
            <p:nvPr/>
          </p:nvSpPr>
          <p:spPr>
            <a:xfrm>
              <a:off x="6572264" y="4643446"/>
              <a:ext cx="714380" cy="7143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000" dirty="0" smtClean="0"/>
                <a:t>Datos</a:t>
              </a:r>
              <a:endParaRPr lang="es-MX" sz="1000" dirty="0"/>
            </a:p>
          </p:txBody>
        </p:sp>
      </p:grpSp>
      <p:sp>
        <p:nvSpPr>
          <p:cNvPr id="34" name="33 CuadroTexto"/>
          <p:cNvSpPr txBox="1"/>
          <p:nvPr/>
        </p:nvSpPr>
        <p:spPr>
          <a:xfrm>
            <a:off x="5553753" y="6040299"/>
            <a:ext cx="30187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 smtClean="0"/>
              <a:t>Objetos globales encapsulan Datos y Funciones locales</a:t>
            </a:r>
            <a:endParaRPr lang="es-MX" sz="1000" dirty="0"/>
          </a:p>
        </p:txBody>
      </p:sp>
      <p:sp>
        <p:nvSpPr>
          <p:cNvPr id="36" name="35 CuadroTexto"/>
          <p:cNvSpPr txBox="1"/>
          <p:nvPr/>
        </p:nvSpPr>
        <p:spPr>
          <a:xfrm>
            <a:off x="6531181" y="4131238"/>
            <a:ext cx="755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 smtClean="0"/>
              <a:t>Objeto</a:t>
            </a:r>
            <a:endParaRPr lang="es-MX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57818" y="4572008"/>
            <a:ext cx="3571900" cy="2136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dirty="0" smtClean="0"/>
              <a:t>El Paradigma Orientado a </a:t>
            </a:r>
            <a:r>
              <a:rPr lang="es-MX" sz="3600" dirty="0" smtClean="0"/>
              <a:t>Objetos … (2)</a:t>
            </a:r>
            <a:endParaRPr lang="es-MX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43444"/>
          </a:xfrm>
        </p:spPr>
        <p:txBody>
          <a:bodyPr>
            <a:normAutofit fontScale="85000" lnSpcReduction="10000"/>
          </a:bodyPr>
          <a:lstStyle/>
          <a:p>
            <a:r>
              <a:rPr lang="es-MX" dirty="0" smtClean="0"/>
              <a:t>Los objetos son entidades que tienen:</a:t>
            </a:r>
          </a:p>
          <a:p>
            <a:pPr lvl="1"/>
            <a:r>
              <a:rPr lang="es-MX" dirty="0" smtClean="0"/>
              <a:t>Un estado:</a:t>
            </a:r>
          </a:p>
          <a:p>
            <a:pPr lvl="2"/>
            <a:r>
              <a:rPr lang="es-MX" dirty="0" smtClean="0"/>
              <a:t>Los datos (Atributos) que un objeto tiene en un momento determinado.</a:t>
            </a:r>
          </a:p>
          <a:p>
            <a:pPr lvl="1"/>
            <a:r>
              <a:rPr lang="es-MX" dirty="0" smtClean="0"/>
              <a:t>Un comportamiento:</a:t>
            </a:r>
          </a:p>
          <a:p>
            <a:pPr lvl="2"/>
            <a:r>
              <a:rPr lang="es-MX" dirty="0" smtClean="0"/>
              <a:t>Las funciones (Métodos) que contiene un objeto.</a:t>
            </a:r>
          </a:p>
          <a:p>
            <a:pPr lvl="1"/>
            <a:r>
              <a:rPr lang="es-MX" dirty="0" smtClean="0"/>
              <a:t>Una identidad:</a:t>
            </a:r>
          </a:p>
          <a:p>
            <a:pPr lvl="2"/>
            <a:r>
              <a:rPr lang="es-MX" dirty="0" smtClean="0"/>
              <a:t>Un identificador que hace una referencia única al objeto.</a:t>
            </a:r>
          </a:p>
          <a:p>
            <a:pPr>
              <a:buNone/>
            </a:pPr>
            <a:endParaRPr lang="es-MX" dirty="0"/>
          </a:p>
        </p:txBody>
      </p:sp>
      <p:grpSp>
        <p:nvGrpSpPr>
          <p:cNvPr id="15" name="14 Grupo"/>
          <p:cNvGrpSpPr/>
          <p:nvPr/>
        </p:nvGrpSpPr>
        <p:grpSpPr>
          <a:xfrm>
            <a:off x="4786314" y="1643050"/>
            <a:ext cx="3667485" cy="3071834"/>
            <a:chOff x="4786314" y="1643050"/>
            <a:chExt cx="3667485" cy="3071834"/>
          </a:xfrm>
        </p:grpSpPr>
        <p:sp>
          <p:nvSpPr>
            <p:cNvPr id="12" name="11 Elipse"/>
            <p:cNvSpPr/>
            <p:nvPr/>
          </p:nvSpPr>
          <p:spPr>
            <a:xfrm>
              <a:off x="5167651" y="1785926"/>
              <a:ext cx="3143272" cy="2928958"/>
            </a:xfrm>
            <a:prstGeom prst="ellipse">
              <a:avLst/>
            </a:prstGeom>
            <a:solidFill>
              <a:schemeClr val="bg1"/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4" name="3 Grupo"/>
            <p:cNvGrpSpPr/>
            <p:nvPr/>
          </p:nvGrpSpPr>
          <p:grpSpPr>
            <a:xfrm>
              <a:off x="5596279" y="2226696"/>
              <a:ext cx="2286016" cy="2130998"/>
              <a:chOff x="6091382" y="4190457"/>
              <a:chExt cx="1643074" cy="1571636"/>
            </a:xfrm>
          </p:grpSpPr>
          <p:sp>
            <p:nvSpPr>
              <p:cNvPr id="5" name="4 Elipse"/>
              <p:cNvSpPr/>
              <p:nvPr/>
            </p:nvSpPr>
            <p:spPr>
              <a:xfrm>
                <a:off x="6091382" y="4190457"/>
                <a:ext cx="1643074" cy="15716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1000" dirty="0" smtClean="0"/>
                  <a:t>Métodos</a:t>
                </a:r>
              </a:p>
              <a:p>
                <a:pPr algn="ctr"/>
                <a:endParaRPr lang="es-MX" sz="1000" dirty="0" smtClean="0"/>
              </a:p>
              <a:p>
                <a:pPr algn="ctr"/>
                <a:endParaRPr lang="es-MX" sz="1000" dirty="0" smtClean="0"/>
              </a:p>
              <a:p>
                <a:pPr algn="ctr"/>
                <a:endParaRPr lang="es-MX" sz="1000" dirty="0" smtClean="0"/>
              </a:p>
              <a:p>
                <a:pPr algn="ctr"/>
                <a:endParaRPr lang="es-MX" sz="1000" dirty="0" smtClean="0"/>
              </a:p>
              <a:p>
                <a:pPr algn="ctr"/>
                <a:endParaRPr lang="es-MX" sz="1000" dirty="0" smtClean="0"/>
              </a:p>
              <a:p>
                <a:pPr algn="ctr"/>
                <a:endParaRPr lang="es-MX" sz="1000" dirty="0" smtClean="0"/>
              </a:p>
              <a:p>
                <a:pPr algn="ctr"/>
                <a:endParaRPr lang="es-MX" sz="1000" dirty="0" smtClean="0"/>
              </a:p>
              <a:p>
                <a:pPr algn="ctr"/>
                <a:endParaRPr lang="es-MX" sz="1000" dirty="0"/>
              </a:p>
            </p:txBody>
          </p:sp>
          <p:sp>
            <p:nvSpPr>
              <p:cNvPr id="6" name="5 Elipse"/>
              <p:cNvSpPr/>
              <p:nvPr/>
            </p:nvSpPr>
            <p:spPr>
              <a:xfrm>
                <a:off x="6572264" y="4643446"/>
                <a:ext cx="714380" cy="71438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1000" dirty="0" smtClean="0"/>
                  <a:t>Atributos</a:t>
                </a:r>
                <a:endParaRPr lang="es-MX" sz="1000" dirty="0"/>
              </a:p>
            </p:txBody>
          </p:sp>
        </p:grpSp>
        <p:sp>
          <p:nvSpPr>
            <p:cNvPr id="7" name="6 CuadroTexto"/>
            <p:cNvSpPr txBox="1"/>
            <p:nvPr/>
          </p:nvSpPr>
          <p:spPr>
            <a:xfrm>
              <a:off x="4786314" y="1643050"/>
              <a:ext cx="80996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dirty="0" smtClean="0"/>
                <a:t>Objeto:</a:t>
              </a:r>
              <a:endParaRPr lang="es-MX" sz="1600" dirty="0"/>
            </a:p>
          </p:txBody>
        </p:sp>
        <p:sp>
          <p:nvSpPr>
            <p:cNvPr id="8" name="7 Flecha derecha"/>
            <p:cNvSpPr/>
            <p:nvPr/>
          </p:nvSpPr>
          <p:spPr>
            <a:xfrm>
              <a:off x="5239089" y="3071810"/>
              <a:ext cx="1214446" cy="57150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200" dirty="0" smtClean="0"/>
                <a:t>Estado</a:t>
              </a:r>
              <a:endParaRPr lang="es-MX" sz="1200" dirty="0"/>
            </a:p>
          </p:txBody>
        </p:sp>
        <p:grpSp>
          <p:nvGrpSpPr>
            <p:cNvPr id="11" name="10 Grupo"/>
            <p:cNvGrpSpPr/>
            <p:nvPr/>
          </p:nvGrpSpPr>
          <p:grpSpPr>
            <a:xfrm>
              <a:off x="7025039" y="2428868"/>
              <a:ext cx="1428760" cy="571504"/>
              <a:chOff x="8001024" y="3714752"/>
              <a:chExt cx="1428760" cy="571504"/>
            </a:xfrm>
          </p:grpSpPr>
          <p:sp>
            <p:nvSpPr>
              <p:cNvPr id="9" name="8 Flecha derecha"/>
              <p:cNvSpPr/>
              <p:nvPr/>
            </p:nvSpPr>
            <p:spPr>
              <a:xfrm rot="10800000">
                <a:off x="8001024" y="3714752"/>
                <a:ext cx="1428760" cy="57150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endParaRPr lang="es-MX" sz="1200" dirty="0"/>
              </a:p>
            </p:txBody>
          </p:sp>
          <p:sp>
            <p:nvSpPr>
              <p:cNvPr id="10" name="9 CuadroTexto"/>
              <p:cNvSpPr txBox="1"/>
              <p:nvPr/>
            </p:nvSpPr>
            <p:spPr>
              <a:xfrm>
                <a:off x="8174247" y="3857628"/>
                <a:ext cx="12555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1200" dirty="0" smtClean="0">
                    <a:solidFill>
                      <a:schemeClr val="bg1"/>
                    </a:solidFill>
                  </a:rPr>
                  <a:t>Comportamiento</a:t>
                </a:r>
                <a:endParaRPr lang="es-MX" sz="12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3" name="12 CuadroTexto"/>
            <p:cNvSpPr txBox="1"/>
            <p:nvPr/>
          </p:nvSpPr>
          <p:spPr>
            <a:xfrm>
              <a:off x="6310659" y="1857364"/>
              <a:ext cx="77957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200" dirty="0" smtClean="0"/>
                <a:t>Identidad</a:t>
              </a:r>
              <a:endParaRPr lang="es-MX" sz="12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dirty="0" smtClean="0"/>
              <a:t>El Paradigma Orientado a Objetos … </a:t>
            </a:r>
            <a:r>
              <a:rPr lang="es-MX" sz="3600" dirty="0" smtClean="0"/>
              <a:t>(3)</a:t>
            </a:r>
            <a:endParaRPr lang="es-MX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4257676" cy="4525963"/>
          </a:xfrm>
        </p:spPr>
        <p:txBody>
          <a:bodyPr>
            <a:normAutofit fontScale="70000" lnSpcReduction="20000"/>
          </a:bodyPr>
          <a:lstStyle/>
          <a:p>
            <a:r>
              <a:rPr lang="es-MX" dirty="0" smtClean="0"/>
              <a:t>La programación orientada a objetos expresa un programa como un conjunto de objetos, que colaboran entre ellos para realizar tareas. Esto permite hacer los programas y módulos más fáciles de escribir, mantener y reutilizar </a:t>
            </a:r>
            <a:r>
              <a:rPr lang="es-MX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(UNAM, 2016).</a:t>
            </a:r>
          </a:p>
          <a:p>
            <a:r>
              <a:rPr lang="es-MX" dirty="0" smtClean="0"/>
              <a:t>Cada objeto es una abstracción que modela alguna entidad o hecho del mundo real, con atributos que representan sus características o propiedades y métodos que emulan su comportamiento </a:t>
            </a:r>
            <a:r>
              <a:rPr lang="es-MX" dirty="0" smtClean="0"/>
              <a:t>o actividad </a:t>
            </a:r>
            <a:r>
              <a:rPr lang="es-MX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s-MX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Wikipedia</a:t>
            </a:r>
            <a:r>
              <a:rPr lang="es-MX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2016)</a:t>
            </a:r>
            <a:r>
              <a:rPr lang="es-MX" dirty="0" smtClean="0"/>
              <a:t>.</a:t>
            </a:r>
            <a:endParaRPr lang="es-MX" dirty="0"/>
          </a:p>
        </p:txBody>
      </p:sp>
      <p:grpSp>
        <p:nvGrpSpPr>
          <p:cNvPr id="21" name="20 Grupo"/>
          <p:cNvGrpSpPr/>
          <p:nvPr/>
        </p:nvGrpSpPr>
        <p:grpSpPr>
          <a:xfrm>
            <a:off x="5286380" y="1285860"/>
            <a:ext cx="2857520" cy="3000396"/>
            <a:chOff x="5286380" y="1285860"/>
            <a:chExt cx="2857520" cy="3000396"/>
          </a:xfrm>
        </p:grpSpPr>
        <p:sp>
          <p:nvSpPr>
            <p:cNvPr id="18" name="17 Rectángulo redondeado"/>
            <p:cNvSpPr/>
            <p:nvPr/>
          </p:nvSpPr>
          <p:spPr>
            <a:xfrm>
              <a:off x="5286380" y="1643050"/>
              <a:ext cx="2857520" cy="2643206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" name="3 Elipse"/>
            <p:cNvSpPr/>
            <p:nvPr/>
          </p:nvSpPr>
          <p:spPr>
            <a:xfrm>
              <a:off x="5500694" y="1714488"/>
              <a:ext cx="1071570" cy="10715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000" dirty="0" smtClean="0"/>
                <a:t>Objeto</a:t>
              </a:r>
            </a:p>
            <a:p>
              <a:pPr algn="ctr"/>
              <a:r>
                <a:rPr lang="es-MX" sz="1000" dirty="0" smtClean="0"/>
                <a:t>(interfaz)</a:t>
              </a:r>
              <a:endParaRPr lang="es-MX" sz="1000" dirty="0"/>
            </a:p>
          </p:txBody>
        </p:sp>
        <p:sp>
          <p:nvSpPr>
            <p:cNvPr id="5" name="4 Elipse"/>
            <p:cNvSpPr/>
            <p:nvPr/>
          </p:nvSpPr>
          <p:spPr>
            <a:xfrm>
              <a:off x="6929454" y="2357430"/>
              <a:ext cx="1000132" cy="10001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000" dirty="0" smtClean="0"/>
                <a:t>Objeto</a:t>
              </a:r>
            </a:p>
            <a:p>
              <a:pPr algn="ctr"/>
              <a:r>
                <a:rPr lang="es-MX" sz="1000" dirty="0" smtClean="0"/>
                <a:t>(control)</a:t>
              </a:r>
              <a:endParaRPr lang="es-MX" sz="1000" dirty="0"/>
            </a:p>
          </p:txBody>
        </p:sp>
        <p:sp>
          <p:nvSpPr>
            <p:cNvPr id="6" name="5 Elipse"/>
            <p:cNvSpPr/>
            <p:nvPr/>
          </p:nvSpPr>
          <p:spPr>
            <a:xfrm>
              <a:off x="5572132" y="3214686"/>
              <a:ext cx="1071570" cy="10001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000" dirty="0" smtClean="0"/>
                <a:t>Objeto</a:t>
              </a:r>
            </a:p>
            <a:p>
              <a:pPr algn="ctr"/>
              <a:r>
                <a:rPr lang="es-MX" sz="1000" dirty="0" smtClean="0"/>
                <a:t>(datos)</a:t>
              </a:r>
              <a:endParaRPr lang="es-MX" sz="1000" dirty="0"/>
            </a:p>
          </p:txBody>
        </p:sp>
        <p:cxnSp>
          <p:nvCxnSpPr>
            <p:cNvPr id="7" name="6 Conector recto de flecha"/>
            <p:cNvCxnSpPr/>
            <p:nvPr/>
          </p:nvCxnSpPr>
          <p:spPr>
            <a:xfrm rot="16200000" flipH="1">
              <a:off x="5946388" y="2983307"/>
              <a:ext cx="285752" cy="34131"/>
            </a:xfrm>
            <a:prstGeom prst="straightConnector1">
              <a:avLst/>
            </a:prstGeom>
            <a:ln w="254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>
              <a:off x="6643702" y="2285992"/>
              <a:ext cx="357190" cy="214314"/>
            </a:xfrm>
            <a:prstGeom prst="straightConnector1">
              <a:avLst/>
            </a:prstGeom>
            <a:ln w="254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rot="10800000" flipV="1">
              <a:off x="6689014" y="3286124"/>
              <a:ext cx="311879" cy="250916"/>
            </a:xfrm>
            <a:prstGeom prst="straightConnector1">
              <a:avLst/>
            </a:prstGeom>
            <a:ln w="254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19 CuadroTexto"/>
            <p:cNvSpPr txBox="1"/>
            <p:nvPr/>
          </p:nvSpPr>
          <p:spPr>
            <a:xfrm>
              <a:off x="5357818" y="1285860"/>
              <a:ext cx="11540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 smtClean="0"/>
                <a:t>Programa:</a:t>
              </a:r>
              <a:endParaRPr lang="es-MX" dirty="0"/>
            </a:p>
          </p:txBody>
        </p:sp>
      </p:grpSp>
      <p:grpSp>
        <p:nvGrpSpPr>
          <p:cNvPr id="32" name="31 Grupo"/>
          <p:cNvGrpSpPr/>
          <p:nvPr/>
        </p:nvGrpSpPr>
        <p:grpSpPr>
          <a:xfrm>
            <a:off x="4572000" y="4500570"/>
            <a:ext cx="3786214" cy="2143140"/>
            <a:chOff x="4572000" y="4500570"/>
            <a:chExt cx="3786214" cy="2143140"/>
          </a:xfrm>
        </p:grpSpPr>
        <p:pic>
          <p:nvPicPr>
            <p:cNvPr id="1026" name="Picture 2" descr="http://2.bp.blogspot.com/-iY9wFWoPMqo/U4Pb05t1VrI/AAAAAAAAASo/S7yL68bJfLI/s1600/caracteristicas_objetos_OT.png"/>
            <p:cNvPicPr>
              <a:picLocks noChangeAspect="1" noChangeArrowheads="1"/>
            </p:cNvPicPr>
            <p:nvPr/>
          </p:nvPicPr>
          <p:blipFill>
            <a:blip r:embed="rId2" cstate="print"/>
            <a:srcRect t="42729" r="69080"/>
            <a:stretch>
              <a:fillRect/>
            </a:stretch>
          </p:blipFill>
          <p:spPr bwMode="auto">
            <a:xfrm>
              <a:off x="5000628" y="5210450"/>
              <a:ext cx="895302" cy="861756"/>
            </a:xfrm>
            <a:prstGeom prst="rect">
              <a:avLst/>
            </a:prstGeom>
            <a:noFill/>
          </p:spPr>
        </p:pic>
        <p:sp>
          <p:nvSpPr>
            <p:cNvPr id="23" name="22 CuadroTexto"/>
            <p:cNvSpPr txBox="1"/>
            <p:nvPr/>
          </p:nvSpPr>
          <p:spPr>
            <a:xfrm>
              <a:off x="4572000" y="6121619"/>
              <a:ext cx="18290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400" dirty="0" smtClean="0"/>
                <a:t>Objeto del mundo real</a:t>
              </a:r>
              <a:endParaRPr lang="es-MX" sz="1400" dirty="0"/>
            </a:p>
          </p:txBody>
        </p:sp>
        <p:sp>
          <p:nvSpPr>
            <p:cNvPr id="24" name="23 Abrir llave"/>
            <p:cNvSpPr/>
            <p:nvPr/>
          </p:nvSpPr>
          <p:spPr>
            <a:xfrm>
              <a:off x="6143636" y="4572008"/>
              <a:ext cx="428628" cy="2071702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0" name="29 Grupo"/>
            <p:cNvGrpSpPr/>
            <p:nvPr/>
          </p:nvGrpSpPr>
          <p:grpSpPr>
            <a:xfrm>
              <a:off x="6500826" y="4786322"/>
              <a:ext cx="1857388" cy="1857388"/>
              <a:chOff x="6643702" y="4689246"/>
              <a:chExt cx="1857388" cy="1857388"/>
            </a:xfrm>
          </p:grpSpPr>
          <p:sp>
            <p:nvSpPr>
              <p:cNvPr id="26" name="25 Elipse"/>
              <p:cNvSpPr/>
              <p:nvPr/>
            </p:nvSpPr>
            <p:spPr>
              <a:xfrm>
                <a:off x="6643702" y="4689246"/>
                <a:ext cx="1857388" cy="185738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25" name="24 Elipse"/>
              <p:cNvSpPr/>
              <p:nvPr/>
            </p:nvSpPr>
            <p:spPr>
              <a:xfrm>
                <a:off x="7135222" y="5232042"/>
                <a:ext cx="857256" cy="785818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1000" b="1" dirty="0" smtClean="0"/>
                  <a:t>Radio</a:t>
                </a:r>
              </a:p>
              <a:p>
                <a:pPr algn="ctr"/>
                <a:r>
                  <a:rPr lang="es-MX" sz="1000" b="1" dirty="0" smtClean="0"/>
                  <a:t>Peso</a:t>
                </a:r>
              </a:p>
              <a:p>
                <a:pPr algn="ctr"/>
                <a:r>
                  <a:rPr lang="es-MX" sz="1000" b="1" dirty="0" smtClean="0"/>
                  <a:t>Color</a:t>
                </a:r>
                <a:endParaRPr lang="es-MX" sz="1000" b="1" dirty="0"/>
              </a:p>
            </p:txBody>
          </p:sp>
          <p:sp>
            <p:nvSpPr>
              <p:cNvPr id="27" name="26 CuadroTexto"/>
              <p:cNvSpPr txBox="1"/>
              <p:nvPr/>
            </p:nvSpPr>
            <p:spPr>
              <a:xfrm>
                <a:off x="6872957" y="4968729"/>
                <a:ext cx="60144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1000" dirty="0" smtClean="0">
                    <a:solidFill>
                      <a:schemeClr val="bg1"/>
                    </a:solidFill>
                  </a:rPr>
                  <a:t>Rebotar</a:t>
                </a:r>
                <a:endParaRPr lang="es-MX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27 CuadroTexto"/>
              <p:cNvSpPr txBox="1"/>
              <p:nvPr/>
            </p:nvSpPr>
            <p:spPr>
              <a:xfrm>
                <a:off x="7985300" y="5397357"/>
                <a:ext cx="44435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1000" dirty="0" smtClean="0">
                    <a:solidFill>
                      <a:schemeClr val="bg1"/>
                    </a:solidFill>
                  </a:rPr>
                  <a:t>Girar</a:t>
                </a:r>
                <a:endParaRPr lang="es-MX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28 CuadroTexto"/>
              <p:cNvSpPr txBox="1"/>
              <p:nvPr/>
            </p:nvSpPr>
            <p:spPr>
              <a:xfrm>
                <a:off x="7158709" y="6111737"/>
                <a:ext cx="49404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1000" dirty="0" smtClean="0">
                    <a:solidFill>
                      <a:schemeClr val="bg1"/>
                    </a:solidFill>
                  </a:rPr>
                  <a:t>Rodar</a:t>
                </a:r>
                <a:endParaRPr lang="es-MX" sz="1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1" name="30 CuadroTexto"/>
            <p:cNvSpPr txBox="1"/>
            <p:nvPr/>
          </p:nvSpPr>
          <p:spPr>
            <a:xfrm>
              <a:off x="6684013" y="4500570"/>
              <a:ext cx="14598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400" dirty="0" smtClean="0"/>
                <a:t>Entidad abstracta</a:t>
              </a:r>
              <a:endParaRPr lang="es-MX" sz="1400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7" name="Picture 5" descr="https://modulopoo.files.wordpress.com/2013/11/herencia.jpg"/>
          <p:cNvPicPr>
            <a:picLocks noChangeAspect="1" noChangeArrowheads="1"/>
          </p:cNvPicPr>
          <p:nvPr/>
        </p:nvPicPr>
        <p:blipFill>
          <a:blip r:embed="rId2">
            <a:lum bright="10000" contrast="20000"/>
          </a:blip>
          <a:srcRect b="8616"/>
          <a:stretch>
            <a:fillRect/>
          </a:stretch>
        </p:blipFill>
        <p:spPr bwMode="auto">
          <a:xfrm>
            <a:off x="5286380" y="2786058"/>
            <a:ext cx="2574492" cy="1714512"/>
          </a:xfrm>
          <a:prstGeom prst="rect">
            <a:avLst/>
          </a:prstGeom>
          <a:noFill/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dirty="0" smtClean="0"/>
              <a:t>El Paradigma Orientado a Objetos … </a:t>
            </a:r>
            <a:r>
              <a:rPr lang="es-MX" sz="3600" dirty="0" smtClean="0"/>
              <a:t>(4)</a:t>
            </a:r>
            <a:endParaRPr lang="es-MX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14353"/>
          </a:xfrm>
        </p:spPr>
        <p:txBody>
          <a:bodyPr>
            <a:normAutofit fontScale="70000" lnSpcReduction="20000"/>
          </a:bodyPr>
          <a:lstStyle/>
          <a:p>
            <a:r>
              <a:rPr lang="es-MX" dirty="0" smtClean="0"/>
              <a:t>Cinco conceptos básicos de la programación orientada a objetos</a:t>
            </a:r>
            <a:endParaRPr lang="es-MX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8662" y="3286124"/>
            <a:ext cx="2355260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14678" y="2214554"/>
            <a:ext cx="2152583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6 CuadroTexto"/>
          <p:cNvSpPr txBox="1"/>
          <p:nvPr/>
        </p:nvSpPr>
        <p:spPr>
          <a:xfrm>
            <a:off x="1500166" y="3000372"/>
            <a:ext cx="11581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 smtClean="0"/>
              <a:t>Abstracción</a:t>
            </a:r>
            <a:endParaRPr lang="es-MX" sz="1600" dirty="0"/>
          </a:p>
        </p:txBody>
      </p:sp>
      <p:sp>
        <p:nvSpPr>
          <p:cNvPr id="8" name="7 CuadroTexto"/>
          <p:cNvSpPr txBox="1"/>
          <p:nvPr/>
        </p:nvSpPr>
        <p:spPr>
          <a:xfrm>
            <a:off x="3571868" y="2000240"/>
            <a:ext cx="1607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 smtClean="0"/>
              <a:t>Encapsulamiento</a:t>
            </a:r>
            <a:endParaRPr lang="es-MX" sz="1600" dirty="0"/>
          </a:p>
        </p:txBody>
      </p:sp>
      <p:sp>
        <p:nvSpPr>
          <p:cNvPr id="9" name="8 CuadroTexto"/>
          <p:cNvSpPr txBox="1"/>
          <p:nvPr/>
        </p:nvSpPr>
        <p:spPr>
          <a:xfrm>
            <a:off x="6000760" y="2500306"/>
            <a:ext cx="9257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 smtClean="0"/>
              <a:t>Herencia</a:t>
            </a:r>
            <a:endParaRPr lang="es-MX" sz="1600" dirty="0"/>
          </a:p>
        </p:txBody>
      </p:sp>
      <p:pic>
        <p:nvPicPr>
          <p:cNvPr id="28679" name="Picture 7" descr="http://www.gayatlacomulco.com/tutorials/fundamentosdeprog/modularidad.jpg"/>
          <p:cNvPicPr>
            <a:picLocks noChangeAspect="1" noChangeArrowheads="1"/>
          </p:cNvPicPr>
          <p:nvPr/>
        </p:nvPicPr>
        <p:blipFill>
          <a:blip r:embed="rId5">
            <a:lum bright="10000" contrast="20000"/>
          </a:blip>
          <a:srcRect l="5042" r="6721" b="11054"/>
          <a:stretch>
            <a:fillRect/>
          </a:stretch>
        </p:blipFill>
        <p:spPr bwMode="auto">
          <a:xfrm>
            <a:off x="5072066" y="4500570"/>
            <a:ext cx="2500330" cy="1770592"/>
          </a:xfrm>
          <a:prstGeom prst="rect">
            <a:avLst/>
          </a:prstGeom>
          <a:noFill/>
        </p:spPr>
      </p:pic>
      <p:sp>
        <p:nvSpPr>
          <p:cNvPr id="11" name="10 CuadroTexto"/>
          <p:cNvSpPr txBox="1"/>
          <p:nvPr/>
        </p:nvSpPr>
        <p:spPr>
          <a:xfrm>
            <a:off x="4670644" y="4572008"/>
            <a:ext cx="12586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 smtClean="0"/>
              <a:t>Modularidad</a:t>
            </a:r>
            <a:endParaRPr lang="es-MX" sz="1600" dirty="0"/>
          </a:p>
        </p:txBody>
      </p:sp>
      <p:pic>
        <p:nvPicPr>
          <p:cNvPr id="28682" name="Picture 10" descr="http://paginawebleon.mx/wp/wp-content/uploads/2015/01/polimorfismo_medios_de_transporte.png"/>
          <p:cNvPicPr>
            <a:picLocks noChangeAspect="1" noChangeArrowheads="1"/>
          </p:cNvPicPr>
          <p:nvPr/>
        </p:nvPicPr>
        <p:blipFill>
          <a:blip r:embed="rId6"/>
          <a:srcRect l="17369" t="16667"/>
          <a:stretch>
            <a:fillRect/>
          </a:stretch>
        </p:blipFill>
        <p:spPr bwMode="auto">
          <a:xfrm>
            <a:off x="1000100" y="5357826"/>
            <a:ext cx="3738557" cy="714375"/>
          </a:xfrm>
          <a:prstGeom prst="rect">
            <a:avLst/>
          </a:prstGeom>
          <a:noFill/>
        </p:spPr>
      </p:pic>
      <p:sp>
        <p:nvSpPr>
          <p:cNvPr id="13" name="12 CuadroTexto"/>
          <p:cNvSpPr txBox="1"/>
          <p:nvPr/>
        </p:nvSpPr>
        <p:spPr>
          <a:xfrm>
            <a:off x="2928926" y="5090710"/>
            <a:ext cx="12946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 smtClean="0"/>
              <a:t>Polimorfismo</a:t>
            </a:r>
            <a:endParaRPr lang="es-MX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Referencias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1600" dirty="0" smtClean="0"/>
              <a:t>Vaca R. C. (2011) </a:t>
            </a:r>
            <a:r>
              <a:rPr lang="es-MX" sz="1600" b="1" dirty="0" smtClean="0"/>
              <a:t>Paradigmas de programación</a:t>
            </a:r>
            <a:r>
              <a:rPr lang="es-MX" sz="1600" dirty="0" smtClean="0"/>
              <a:t>. Depto. de Informática, Universidad de Valladolid</a:t>
            </a:r>
            <a:r>
              <a:rPr lang="es-MX" sz="1600" dirty="0" smtClean="0"/>
              <a:t>.</a:t>
            </a:r>
          </a:p>
          <a:p>
            <a:r>
              <a:rPr lang="es-MX" sz="1600" dirty="0" err="1" smtClean="0"/>
              <a:t>Weitzenfeld</a:t>
            </a:r>
            <a:r>
              <a:rPr lang="es-MX" sz="1600" dirty="0" smtClean="0"/>
              <a:t> A. (2004). </a:t>
            </a:r>
            <a:r>
              <a:rPr lang="es-MX" sz="1600" b="1" i="1" dirty="0" smtClean="0"/>
              <a:t>Ingeniería de Software orientada a objetos con UML, Java e Internet</a:t>
            </a:r>
            <a:r>
              <a:rPr lang="es-MX" sz="1600" dirty="0" smtClean="0"/>
              <a:t>. México: </a:t>
            </a:r>
            <a:r>
              <a:rPr lang="es-MX" sz="1600" dirty="0" err="1" smtClean="0"/>
              <a:t>Thomson</a:t>
            </a:r>
            <a:r>
              <a:rPr lang="es-MX" sz="1600" dirty="0" smtClean="0"/>
              <a:t>.</a:t>
            </a:r>
          </a:p>
          <a:p>
            <a:r>
              <a:rPr lang="es-MX" sz="1600" dirty="0" smtClean="0"/>
              <a:t>UNAM (2016). </a:t>
            </a:r>
            <a:r>
              <a:rPr lang="es-MX" sz="1600" b="1" dirty="0" smtClean="0"/>
              <a:t>Unidad 3. Paradigma orientado a objetos</a:t>
            </a:r>
            <a:r>
              <a:rPr lang="es-MX" sz="1600" dirty="0" smtClean="0"/>
              <a:t>. UNAM Licenciatura en Informática a Distancia. Recuperado de</a:t>
            </a:r>
            <a:r>
              <a:rPr lang="es-MX" sz="1600" dirty="0" smtClean="0"/>
              <a:t>:  http://ecampus.fca.unam.mx/ebook/imprimibles/informatica/programacion/Unidad_3.pdf</a:t>
            </a:r>
            <a:endParaRPr lang="es-MX" sz="1600" dirty="0" smtClean="0"/>
          </a:p>
          <a:p>
            <a:r>
              <a:rPr lang="es-MX" sz="1600" dirty="0" err="1" smtClean="0"/>
              <a:t>Wikipedia</a:t>
            </a:r>
            <a:r>
              <a:rPr lang="es-MX" sz="1600" dirty="0" smtClean="0"/>
              <a:t> (2016). </a:t>
            </a:r>
            <a:r>
              <a:rPr lang="es-MX" sz="1600" b="1" dirty="0" smtClean="0"/>
              <a:t>Programación orientada a objetos</a:t>
            </a:r>
            <a:r>
              <a:rPr lang="es-MX" sz="1600" dirty="0" smtClean="0"/>
              <a:t>. </a:t>
            </a:r>
            <a:r>
              <a:rPr lang="es-MX" sz="1600" dirty="0" smtClean="0"/>
              <a:t>Recuperado de: https://</a:t>
            </a:r>
            <a:r>
              <a:rPr lang="es-MX" sz="1600" dirty="0" smtClean="0"/>
              <a:t>es.wikipedia.org/wiki/Programaci%C3%B3n_orientada_a_objetos.</a:t>
            </a:r>
            <a:endParaRPr lang="es-MX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979</TotalTime>
  <Words>997</Words>
  <PresentationFormat>Presentación en pantalla (4:3)</PresentationFormat>
  <Paragraphs>161</Paragraphs>
  <Slides>16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7" baseType="lpstr">
      <vt:lpstr>Tema de Office</vt:lpstr>
      <vt:lpstr>Programación Orientada a Objetos I</vt:lpstr>
      <vt:lpstr>Contenido</vt:lpstr>
      <vt:lpstr>Paradigmas de programación</vt:lpstr>
      <vt:lpstr>Paradigmas de programación … (2)</vt:lpstr>
      <vt:lpstr>Paradigmas de programación … (3)</vt:lpstr>
      <vt:lpstr>Paradigmas de programación … (4)</vt:lpstr>
      <vt:lpstr>Paradigmas de programación … (5)</vt:lpstr>
      <vt:lpstr>Paradigmas de programación … (6)</vt:lpstr>
      <vt:lpstr>Paradigmas de programación … (7)</vt:lpstr>
      <vt:lpstr>Paradigmas de programación … (8)</vt:lpstr>
      <vt:lpstr>Paradigmas de programación … (9)</vt:lpstr>
      <vt:lpstr>El Paradigma Orientado a Objetos</vt:lpstr>
      <vt:lpstr>El Paradigma Orientado a Objetos … (2)</vt:lpstr>
      <vt:lpstr>El Paradigma Orientado a Objetos … (3)</vt:lpstr>
      <vt:lpstr>El Paradigma Orientado a Objetos … (4)</vt:lpstr>
      <vt:lpstr>Referencias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I</dc:title>
  <dc:creator>Jesus</dc:creator>
  <cp:lastModifiedBy>Jesus</cp:lastModifiedBy>
  <cp:revision>68</cp:revision>
  <dcterms:created xsi:type="dcterms:W3CDTF">2016-08-11T15:02:05Z</dcterms:created>
  <dcterms:modified xsi:type="dcterms:W3CDTF">2016-08-12T23:51:46Z</dcterms:modified>
</cp:coreProperties>
</file>